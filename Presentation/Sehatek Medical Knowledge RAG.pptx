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6256000" cy="9144000"/>
  <p:notesSz cx="9144000" cy="16256000"/>
  <p:embeddedFontLst>
    <p:embeddedFont>
      <p:font typeface="Liter" charset="-122" pitchFamily="34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lqybweg4voaw/mnt/agents/output/sehatek-rag/images/8_Transforming_Healthcare_Through_Artificial.png">    </p:cNvPr>
          <p:cNvPicPr>
            <a:picLocks noChangeAspect="1"/>
          </p:cNvPicPr>
          <p:nvPr/>
        </p:nvPicPr>
        <p:blipFill>
          <a:blip r:embed="rId1"/>
          <a:srcRect l="12963" r="12963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D0D12">
                  <a:alpha val="25000"/>
                </a:srgbClr>
              </a:gs>
              <a:gs pos="40000">
                <a:srgbClr val="0D0D12">
                  <a:alpha val="63000"/>
                </a:srgbClr>
              </a:gs>
              <a:gs pos="100000">
                <a:srgbClr val="0D0D12">
                  <a:alpha val="94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493000" y="3048000"/>
            <a:ext cx="1270000" cy="38100"/>
          </a:xfrm>
          <a:prstGeom prst="rect">
            <a:avLst/>
          </a:prstGeom>
          <a:solidFill>
            <a:srgbClr val="E8A24F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3302000"/>
            <a:ext cx="1270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spc="300" kern="0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SEHATEK MEDICAL</a:t>
            </a:r>
            <a:endParaRPr lang="en-US" sz="4800" dirty="0"/>
          </a:p>
          <a:p>
            <a:pPr algn="ctr">
              <a:lnSpc>
                <a:spcPct val="120000"/>
              </a:lnSpc>
            </a:pPr>
            <a:r>
              <a:rPr lang="en-US" sz="4800" spc="300" kern="0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RAG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3048000" y="5207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Retrieval-Augmented Generation for Pregnancy Healthcare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3000" y="5905500"/>
            <a:ext cx="1270000" cy="38100"/>
          </a:xfrm>
          <a:prstGeom prst="rect">
            <a:avLst/>
          </a:prstGeom>
          <a:solidFill>
            <a:srgbClr val="E8A24F"/>
          </a:solidFill>
          <a:ln/>
        </p:spPr>
      </p:sp>
      <p:sp>
        <p:nvSpPr>
          <p:cNvPr id="8" name="Text 5"/>
          <p:cNvSpPr/>
          <p:nvPr/>
        </p:nvSpPr>
        <p:spPr>
          <a:xfrm>
            <a:off x="5588000" y="6223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200" kern="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DEEP DIVE  |  V1.0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9525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of Contents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1714500"/>
            <a:ext cx="762000" cy="38100"/>
          </a:xfrm>
          <a:prstGeom prst="rect">
            <a:avLst/>
          </a:prstGeom>
          <a:solidFill>
            <a:srgbClr val="E8A24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286000"/>
            <a:ext cx="7175500" cy="2794000"/>
          </a:xfrm>
          <a:prstGeom prst="rect">
            <a:avLst/>
          </a:prstGeom>
          <a:solidFill>
            <a:srgbClr val="1E1E28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540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143000" y="3302000"/>
            <a:ext cx="6413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&amp; Overview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3810000"/>
            <a:ext cx="6413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intelligent knowledge layer powering Sehatek's pregnancy healthcare platform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18500" y="2286000"/>
            <a:ext cx="7175500" cy="2794000"/>
          </a:xfrm>
          <a:prstGeom prst="rect">
            <a:avLst/>
          </a:prstGeom>
          <a:solidFill>
            <a:srgbClr val="1E1E28"/>
          </a:solidFill>
          <a:ln/>
        </p:spPr>
      </p:sp>
      <p:sp>
        <p:nvSpPr>
          <p:cNvPr id="10" name="Text 8"/>
          <p:cNvSpPr/>
          <p:nvPr/>
        </p:nvSpPr>
        <p:spPr>
          <a:xfrm>
            <a:off x="8699500" y="2540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699500" y="3302000"/>
            <a:ext cx="6413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Architecture &amp; Features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699500" y="3810000"/>
            <a:ext cx="6413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multi-layered pipeline engineered for medical document complexity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461000"/>
            <a:ext cx="7175500" cy="2794000"/>
          </a:xfrm>
          <a:prstGeom prst="rect">
            <a:avLst/>
          </a:prstGeom>
          <a:solidFill>
            <a:srgbClr val="1E1E28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5715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1143000" y="6477000"/>
            <a:ext cx="6413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43000" y="6985000"/>
            <a:ext cx="6413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async Python backend with specialized ML infrastructure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18500" y="5461000"/>
            <a:ext cx="7175500" cy="2794000"/>
          </a:xfrm>
          <a:prstGeom prst="rect">
            <a:avLst/>
          </a:prstGeom>
          <a:solidFill>
            <a:srgbClr val="1E1E28"/>
          </a:solidFill>
          <a:ln/>
        </p:spPr>
      </p:sp>
      <p:sp>
        <p:nvSpPr>
          <p:cNvPr id="18" name="Text 16"/>
          <p:cNvSpPr/>
          <p:nvPr/>
        </p:nvSpPr>
        <p:spPr>
          <a:xfrm>
            <a:off x="8699500" y="5715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8699500" y="6477000"/>
            <a:ext cx="6413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Roadmap to Agentic RAG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699500" y="6985000"/>
            <a:ext cx="6413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Evolving from Standard RAG to fully autonomous agentic architecture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lqybweg4voaw/mnt/agents/output/sehatek-rag/images/6_A_Blue_Medical_Science_Futuristi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D0D12">
                  <a:alpha val="38000"/>
                </a:srgbClr>
              </a:gs>
              <a:gs pos="50000">
                <a:srgbClr val="0D0D12">
                  <a:alpha val="75000"/>
                </a:srgbClr>
              </a:gs>
              <a:gs pos="100000">
                <a:srgbClr val="0D0D12">
                  <a:alpha val="94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286000"/>
            <a:ext cx="381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0" b="1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Shape 2"/>
          <p:cNvSpPr/>
          <p:nvPr/>
        </p:nvSpPr>
        <p:spPr>
          <a:xfrm>
            <a:off x="762000" y="4064000"/>
            <a:ext cx="762000" cy="38100"/>
          </a:xfrm>
          <a:prstGeom prst="rect">
            <a:avLst/>
          </a:prstGeom>
          <a:solidFill>
            <a:srgbClr val="E8A24F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318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spc="200" kern="0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&amp; OVERVIEW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62000" y="5143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intelligent knowledge layer powering Sehatek's platform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E8A24F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Sehatek Knowledge RAG?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2A2A36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87500"/>
            <a:ext cx="8128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System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the intelligent knowledge layer of the Sehatek platform, providing accurate, context-aware medical information through Retrieval-Augmented Generation.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 enables healthcare professionals and patients to interact with </a:t>
            </a:r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8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trusted pregnancy-related knowledge sources</a:t>
            </a:r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using natural language queries.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By combining document retrieval with Large Language Models, the system delivers </a:t>
            </a:r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8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grounded and reliable responses</a:t>
            </a:r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based on verified medical content rather than model memory alone.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398000" y="1587500"/>
            <a:ext cx="6096000" cy="4191000"/>
          </a:xfrm>
          <a:prstGeom prst="rect">
            <a:avLst/>
          </a:prstGeom>
          <a:solidFill>
            <a:srgbClr val="1E1E28"/>
          </a:solidFill>
          <a:ln/>
        </p:spPr>
      </p:sp>
      <p:sp>
        <p:nvSpPr>
          <p:cNvPr id="7" name="Text 5"/>
          <p:cNvSpPr/>
          <p:nvPr/>
        </p:nvSpPr>
        <p:spPr>
          <a:xfrm>
            <a:off x="9779000" y="1841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CAPABILITIES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779000" y="2286000"/>
            <a:ext cx="5334000" cy="336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Accuracy via verification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grounded in trusted medical sources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Natural language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plain language queries, no jargon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Pregnancy expertise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maternal &amp; fetal health focus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retrieval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latest uploaded literature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5969000"/>
            <a:ext cx="14732000" cy="2159000"/>
          </a:xfrm>
          <a:prstGeom prst="rect">
            <a:avLst/>
          </a:prstGeom>
          <a:solidFill>
            <a:srgbClr val="1E1E28"/>
          </a:solidFill>
          <a:ln/>
        </p:spPr>
      </p:sp>
      <p:sp>
        <p:nvSpPr>
          <p:cNvPr id="10" name="Shape 8"/>
          <p:cNvSpPr/>
          <p:nvPr/>
        </p:nvSpPr>
        <p:spPr>
          <a:xfrm>
            <a:off x="1651000" y="622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50800"/>
                </a:moveTo>
                <a:cubicBezTo>
                  <a:pt x="0" y="22781"/>
                  <a:pt x="30374" y="0"/>
                  <a:pt x="67733" y="0"/>
                </a:cubicBezTo>
                <a:lnTo>
                  <a:pt x="225954" y="0"/>
                </a:lnTo>
                <a:cubicBezTo>
                  <a:pt x="243946" y="0"/>
                  <a:pt x="261197" y="5318"/>
                  <a:pt x="273897" y="14843"/>
                </a:cubicBezTo>
                <a:lnTo>
                  <a:pt x="386609" y="99457"/>
                </a:lnTo>
                <a:cubicBezTo>
                  <a:pt x="399309" y="108982"/>
                  <a:pt x="406400" y="121920"/>
                  <a:pt x="406400" y="135414"/>
                </a:cubicBezTo>
                <a:lnTo>
                  <a:pt x="406400" y="355600"/>
                </a:lnTo>
                <a:cubicBezTo>
                  <a:pt x="406400" y="383619"/>
                  <a:pt x="376026" y="406400"/>
                  <a:pt x="338667" y="406400"/>
                </a:cubicBezTo>
                <a:lnTo>
                  <a:pt x="67733" y="406400"/>
                </a:lnTo>
                <a:cubicBezTo>
                  <a:pt x="30374" y="406400"/>
                  <a:pt x="0" y="383619"/>
                  <a:pt x="0" y="355600"/>
                </a:cubicBezTo>
                <a:lnTo>
                  <a:pt x="0" y="50800"/>
                </a:lnTo>
                <a:close/>
                <a:moveTo>
                  <a:pt x="220133" y="46434"/>
                </a:moveTo>
                <a:lnTo>
                  <a:pt x="220133" y="120650"/>
                </a:lnTo>
                <a:cubicBezTo>
                  <a:pt x="220133" y="131207"/>
                  <a:pt x="231457" y="139700"/>
                  <a:pt x="245533" y="139700"/>
                </a:cubicBezTo>
                <a:lnTo>
                  <a:pt x="344487" y="139700"/>
                </a:lnTo>
                <a:lnTo>
                  <a:pt x="220133" y="46434"/>
                </a:lnTo>
                <a:close/>
                <a:moveTo>
                  <a:pt x="169333" y="222250"/>
                </a:moveTo>
                <a:lnTo>
                  <a:pt x="169333" y="254000"/>
                </a:lnTo>
                <a:lnTo>
                  <a:pt x="127000" y="254000"/>
                </a:lnTo>
                <a:cubicBezTo>
                  <a:pt x="117687" y="254000"/>
                  <a:pt x="110067" y="259715"/>
                  <a:pt x="110067" y="266700"/>
                </a:cubicBezTo>
                <a:lnTo>
                  <a:pt x="110067" y="292100"/>
                </a:lnTo>
                <a:cubicBezTo>
                  <a:pt x="110067" y="299085"/>
                  <a:pt x="117687" y="304800"/>
                  <a:pt x="127000" y="304800"/>
                </a:cubicBezTo>
                <a:lnTo>
                  <a:pt x="169333" y="304800"/>
                </a:lnTo>
                <a:lnTo>
                  <a:pt x="169333" y="336550"/>
                </a:lnTo>
                <a:cubicBezTo>
                  <a:pt x="169333" y="343535"/>
                  <a:pt x="176953" y="349250"/>
                  <a:pt x="186267" y="349250"/>
                </a:cubicBezTo>
                <a:lnTo>
                  <a:pt x="220133" y="349250"/>
                </a:lnTo>
                <a:cubicBezTo>
                  <a:pt x="229447" y="349250"/>
                  <a:pt x="237067" y="343535"/>
                  <a:pt x="237067" y="336550"/>
                </a:cubicBezTo>
                <a:lnTo>
                  <a:pt x="237067" y="304800"/>
                </a:lnTo>
                <a:lnTo>
                  <a:pt x="279400" y="304800"/>
                </a:lnTo>
                <a:cubicBezTo>
                  <a:pt x="288713" y="304800"/>
                  <a:pt x="296333" y="299085"/>
                  <a:pt x="296333" y="292100"/>
                </a:cubicBezTo>
                <a:lnTo>
                  <a:pt x="296333" y="266700"/>
                </a:lnTo>
                <a:cubicBezTo>
                  <a:pt x="296333" y="259715"/>
                  <a:pt x="288713" y="254000"/>
                  <a:pt x="279400" y="254000"/>
                </a:cubicBezTo>
                <a:lnTo>
                  <a:pt x="237067" y="254000"/>
                </a:lnTo>
                <a:lnTo>
                  <a:pt x="237067" y="222250"/>
                </a:lnTo>
                <a:cubicBezTo>
                  <a:pt x="237067" y="215265"/>
                  <a:pt x="229447" y="209550"/>
                  <a:pt x="220133" y="209550"/>
                </a:cubicBezTo>
                <a:lnTo>
                  <a:pt x="186267" y="209550"/>
                </a:lnTo>
                <a:cubicBezTo>
                  <a:pt x="176953" y="209550"/>
                  <a:pt x="169333" y="215265"/>
                  <a:pt x="169333" y="222250"/>
                </a:cubicBezTo>
                <a:close/>
              </a:path>
            </a:pathLst>
          </a:custGeom>
          <a:solidFill>
            <a:srgbClr val="E8A24F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6731000"/>
            <a:ext cx="228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Medical Documents</a:t>
            </a:r>
            <a:endParaRPr lang="en-US" sz="1600" dirty="0"/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PDFs, Studies, Reviews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83000" y="6388100"/>
            <a:ext cx="762000" cy="0"/>
          </a:xfrm>
          <a:prstGeom prst="straightConnector1">
            <a:avLst/>
          </a:prstGeom>
          <a:noFill/>
          <a:ln w="25400">
            <a:solidFill>
              <a:srgbClr val="E8A24F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5207000" y="622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06400" y="163354"/>
                </a:moveTo>
                <a:cubicBezTo>
                  <a:pt x="392974" y="171133"/>
                  <a:pt x="377553" y="177403"/>
                  <a:pt x="361496" y="182404"/>
                </a:cubicBezTo>
                <a:cubicBezTo>
                  <a:pt x="318861" y="195739"/>
                  <a:pt x="262890" y="203200"/>
                  <a:pt x="203200" y="203200"/>
                </a:cubicBezTo>
                <a:cubicBezTo>
                  <a:pt x="143510" y="203200"/>
                  <a:pt x="87449" y="195659"/>
                  <a:pt x="44904" y="182404"/>
                </a:cubicBezTo>
                <a:cubicBezTo>
                  <a:pt x="28938" y="177403"/>
                  <a:pt x="13426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90986" y="292100"/>
                  <a:pt x="203200" y="292100"/>
                </a:cubicBezTo>
                <a:cubicBezTo>
                  <a:pt x="315414" y="292100"/>
                  <a:pt x="406400" y="263684"/>
                  <a:pt x="406400" y="228600"/>
                </a:cubicBezTo>
                <a:lnTo>
                  <a:pt x="406400" y="163354"/>
                </a:lnTo>
                <a:close/>
                <a:moveTo>
                  <a:pt x="406400" y="101600"/>
                </a:moveTo>
                <a:lnTo>
                  <a:pt x="406400" y="63500"/>
                </a:lnTo>
                <a:cubicBezTo>
                  <a:pt x="406400" y="28416"/>
                  <a:pt x="315414" y="0"/>
                  <a:pt x="203200" y="0"/>
                </a:cubicBezTo>
                <a:cubicBezTo>
                  <a:pt x="90986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90986" y="165100"/>
                  <a:pt x="203200" y="165100"/>
                </a:cubicBezTo>
                <a:cubicBezTo>
                  <a:pt x="315414" y="165100"/>
                  <a:pt x="406400" y="136684"/>
                  <a:pt x="406400" y="101600"/>
                </a:cubicBezTo>
                <a:close/>
                <a:moveTo>
                  <a:pt x="361496" y="309404"/>
                </a:moveTo>
                <a:cubicBezTo>
                  <a:pt x="318951" y="322659"/>
                  <a:pt x="262981" y="330200"/>
                  <a:pt x="203200" y="330200"/>
                </a:cubicBezTo>
                <a:cubicBezTo>
                  <a:pt x="143419" y="330200"/>
                  <a:pt x="87449" y="322659"/>
                  <a:pt x="44904" y="309404"/>
                </a:cubicBezTo>
                <a:cubicBezTo>
                  <a:pt x="28938" y="304403"/>
                  <a:pt x="13426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90986" y="406400"/>
                  <a:pt x="203200" y="406400"/>
                </a:cubicBezTo>
                <a:cubicBezTo>
                  <a:pt x="315414" y="406400"/>
                  <a:pt x="406400" y="377984"/>
                  <a:pt x="406400" y="342900"/>
                </a:cubicBezTo>
                <a:lnTo>
                  <a:pt x="406400" y="290354"/>
                </a:lnTo>
                <a:cubicBezTo>
                  <a:pt x="392974" y="298133"/>
                  <a:pt x="377553" y="304403"/>
                  <a:pt x="361496" y="309404"/>
                </a:cubicBezTo>
                <a:close/>
              </a:path>
            </a:pathLst>
          </a:custGeom>
          <a:solidFill>
            <a:srgbClr val="E8A24F"/>
          </a:solidFill>
          <a:ln/>
        </p:spPr>
      </p:sp>
      <p:sp>
        <p:nvSpPr>
          <p:cNvPr id="14" name="Text 12"/>
          <p:cNvSpPr/>
          <p:nvPr/>
        </p:nvSpPr>
        <p:spPr>
          <a:xfrm>
            <a:off x="4699000" y="6731000"/>
            <a:ext cx="228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 Pipeline</a:t>
            </a:r>
            <a:endParaRPr lang="en-US" sz="1600" dirty="0"/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Parse, Chunk, Retrieve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239000" y="6388100"/>
            <a:ext cx="762000" cy="0"/>
          </a:xfrm>
          <a:prstGeom prst="straightConnector1">
            <a:avLst/>
          </a:prstGeom>
          <a:noFill/>
          <a:ln w="25400">
            <a:solidFill>
              <a:srgbClr val="E8A24F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8763000" y="622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70933" y="114300"/>
                </a:moveTo>
                <a:cubicBezTo>
                  <a:pt x="270933" y="191452"/>
                  <a:pt x="210256" y="254000"/>
                  <a:pt x="135467" y="254000"/>
                </a:cubicBezTo>
                <a:cubicBezTo>
                  <a:pt x="116628" y="254000"/>
                  <a:pt x="98707" y="250031"/>
                  <a:pt x="82409" y="242888"/>
                </a:cubicBezTo>
                <a:lnTo>
                  <a:pt x="24836" y="277178"/>
                </a:lnTo>
                <a:cubicBezTo>
                  <a:pt x="18274" y="281067"/>
                  <a:pt x="10231" y="279717"/>
                  <a:pt x="4939" y="273844"/>
                </a:cubicBezTo>
                <a:cubicBezTo>
                  <a:pt x="-353" y="267970"/>
                  <a:pt x="-1552" y="258842"/>
                  <a:pt x="1976" y="251460"/>
                </a:cubicBezTo>
                <a:lnTo>
                  <a:pt x="27093" y="198120"/>
                </a:lnTo>
                <a:cubicBezTo>
                  <a:pt x="10089" y="174784"/>
                  <a:pt x="0" y="145733"/>
                  <a:pt x="0" y="114300"/>
                </a:cubicBezTo>
                <a:cubicBezTo>
                  <a:pt x="0" y="37147"/>
                  <a:pt x="60678" y="-25400"/>
                  <a:pt x="135467" y="-25400"/>
                </a:cubicBezTo>
                <a:cubicBezTo>
                  <a:pt x="210256" y="-25400"/>
                  <a:pt x="270933" y="37147"/>
                  <a:pt x="270933" y="114300"/>
                </a:cubicBezTo>
                <a:close/>
                <a:moveTo>
                  <a:pt x="270933" y="406400"/>
                </a:moveTo>
                <a:cubicBezTo>
                  <a:pt x="204541" y="406400"/>
                  <a:pt x="149296" y="357108"/>
                  <a:pt x="137724" y="292100"/>
                </a:cubicBezTo>
                <a:cubicBezTo>
                  <a:pt x="222391" y="290909"/>
                  <a:pt x="295981" y="223123"/>
                  <a:pt x="304094" y="131207"/>
                </a:cubicBezTo>
                <a:cubicBezTo>
                  <a:pt x="362867" y="146447"/>
                  <a:pt x="406400" y="201295"/>
                  <a:pt x="406400" y="266700"/>
                </a:cubicBezTo>
                <a:cubicBezTo>
                  <a:pt x="406400" y="298133"/>
                  <a:pt x="396311" y="327184"/>
                  <a:pt x="379307" y="350520"/>
                </a:cubicBezTo>
                <a:lnTo>
                  <a:pt x="404424" y="403860"/>
                </a:lnTo>
                <a:cubicBezTo>
                  <a:pt x="407882" y="411242"/>
                  <a:pt x="406682" y="420291"/>
                  <a:pt x="401461" y="426244"/>
                </a:cubicBezTo>
                <a:cubicBezTo>
                  <a:pt x="396240" y="432197"/>
                  <a:pt x="388126" y="433546"/>
                  <a:pt x="381564" y="429578"/>
                </a:cubicBezTo>
                <a:lnTo>
                  <a:pt x="323991" y="395288"/>
                </a:lnTo>
                <a:cubicBezTo>
                  <a:pt x="307693" y="402431"/>
                  <a:pt x="289772" y="406400"/>
                  <a:pt x="270933" y="406400"/>
                </a:cubicBezTo>
                <a:close/>
              </a:path>
            </a:pathLst>
          </a:custGeom>
          <a:solidFill>
            <a:srgbClr val="E8A24F"/>
          </a:solidFill>
          <a:ln/>
        </p:spPr>
      </p:sp>
      <p:sp>
        <p:nvSpPr>
          <p:cNvPr id="17" name="Text 15"/>
          <p:cNvSpPr/>
          <p:nvPr/>
        </p:nvSpPr>
        <p:spPr>
          <a:xfrm>
            <a:off x="8255000" y="6731000"/>
            <a:ext cx="228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 Generation</a:t>
            </a:r>
            <a:endParaRPr lang="en-US" sz="1600" dirty="0"/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Grounded Response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795000" y="6388100"/>
            <a:ext cx="762000" cy="0"/>
          </a:xfrm>
          <a:prstGeom prst="straightConnector1">
            <a:avLst/>
          </a:prstGeom>
          <a:noFill/>
          <a:ln w="25400">
            <a:solidFill>
              <a:srgbClr val="E8A24F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2319000" y="622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6350"/>
                </a:moveTo>
                <a:cubicBezTo>
                  <a:pt x="143120" y="6350"/>
                  <a:pt x="94343" y="49030"/>
                  <a:pt x="94343" y="101600"/>
                </a:cubicBezTo>
                <a:cubicBezTo>
                  <a:pt x="94343" y="154170"/>
                  <a:pt x="143120" y="196850"/>
                  <a:pt x="203200" y="196850"/>
                </a:cubicBezTo>
                <a:cubicBezTo>
                  <a:pt x="263280" y="196850"/>
                  <a:pt x="312057" y="154170"/>
                  <a:pt x="312057" y="101600"/>
                </a:cubicBezTo>
                <a:cubicBezTo>
                  <a:pt x="312057" y="49030"/>
                  <a:pt x="263280" y="6350"/>
                  <a:pt x="203200" y="6350"/>
                </a:cubicBezTo>
                <a:close/>
                <a:moveTo>
                  <a:pt x="257629" y="254635"/>
                </a:moveTo>
                <a:cubicBezTo>
                  <a:pt x="252730" y="254238"/>
                  <a:pt x="247650" y="254000"/>
                  <a:pt x="242570" y="254000"/>
                </a:cubicBezTo>
                <a:lnTo>
                  <a:pt x="163739" y="254000"/>
                </a:lnTo>
                <a:cubicBezTo>
                  <a:pt x="158659" y="254000"/>
                  <a:pt x="153670" y="254238"/>
                  <a:pt x="148681" y="254635"/>
                </a:cubicBezTo>
                <a:lnTo>
                  <a:pt x="148681" y="308213"/>
                </a:lnTo>
                <a:cubicBezTo>
                  <a:pt x="163649" y="314246"/>
                  <a:pt x="174081" y="327501"/>
                  <a:pt x="174081" y="342821"/>
                </a:cubicBezTo>
                <a:cubicBezTo>
                  <a:pt x="174081" y="363855"/>
                  <a:pt x="154577" y="380921"/>
                  <a:pt x="130538" y="380921"/>
                </a:cubicBezTo>
                <a:cubicBezTo>
                  <a:pt x="106499" y="380921"/>
                  <a:pt x="86995" y="363855"/>
                  <a:pt x="86995" y="342821"/>
                </a:cubicBezTo>
                <a:cubicBezTo>
                  <a:pt x="86995" y="327422"/>
                  <a:pt x="97427" y="314166"/>
                  <a:pt x="112395" y="308213"/>
                </a:cubicBezTo>
                <a:lnTo>
                  <a:pt x="112395" y="261858"/>
                </a:lnTo>
                <a:cubicBezTo>
                  <a:pt x="55336" y="280194"/>
                  <a:pt x="14514" y="328295"/>
                  <a:pt x="14514" y="384651"/>
                </a:cubicBezTo>
                <a:cubicBezTo>
                  <a:pt x="14514" y="396637"/>
                  <a:pt x="25672" y="406400"/>
                  <a:pt x="39370" y="406400"/>
                </a:cubicBezTo>
                <a:lnTo>
                  <a:pt x="366939" y="406400"/>
                </a:lnTo>
                <a:cubicBezTo>
                  <a:pt x="380637" y="406400"/>
                  <a:pt x="391795" y="396637"/>
                  <a:pt x="391795" y="384651"/>
                </a:cubicBezTo>
                <a:cubicBezTo>
                  <a:pt x="391795" y="328295"/>
                  <a:pt x="350974" y="280273"/>
                  <a:pt x="293824" y="261937"/>
                </a:cubicBezTo>
                <a:lnTo>
                  <a:pt x="293824" y="291624"/>
                </a:lnTo>
                <a:cubicBezTo>
                  <a:pt x="314960" y="298132"/>
                  <a:pt x="330109" y="315833"/>
                  <a:pt x="330109" y="336550"/>
                </a:cubicBezTo>
                <a:lnTo>
                  <a:pt x="330109" y="361950"/>
                </a:lnTo>
                <a:cubicBezTo>
                  <a:pt x="330109" y="370681"/>
                  <a:pt x="321945" y="377825"/>
                  <a:pt x="311966" y="377825"/>
                </a:cubicBezTo>
                <a:cubicBezTo>
                  <a:pt x="301988" y="377825"/>
                  <a:pt x="293824" y="370681"/>
                  <a:pt x="293824" y="361950"/>
                </a:cubicBezTo>
                <a:lnTo>
                  <a:pt x="293824" y="336550"/>
                </a:lnTo>
                <a:cubicBezTo>
                  <a:pt x="293824" y="327819"/>
                  <a:pt x="285659" y="320675"/>
                  <a:pt x="275681" y="320675"/>
                </a:cubicBezTo>
                <a:cubicBezTo>
                  <a:pt x="265702" y="320675"/>
                  <a:pt x="257538" y="327819"/>
                  <a:pt x="257538" y="336550"/>
                </a:cubicBezTo>
                <a:lnTo>
                  <a:pt x="257538" y="361950"/>
                </a:lnTo>
                <a:cubicBezTo>
                  <a:pt x="257538" y="370681"/>
                  <a:pt x="249374" y="377825"/>
                  <a:pt x="239395" y="377825"/>
                </a:cubicBezTo>
                <a:cubicBezTo>
                  <a:pt x="229416" y="377825"/>
                  <a:pt x="221252" y="370681"/>
                  <a:pt x="221252" y="361950"/>
                </a:cubicBezTo>
                <a:lnTo>
                  <a:pt x="221252" y="336550"/>
                </a:lnTo>
                <a:cubicBezTo>
                  <a:pt x="221252" y="315833"/>
                  <a:pt x="236401" y="298212"/>
                  <a:pt x="257538" y="291624"/>
                </a:cubicBezTo>
                <a:lnTo>
                  <a:pt x="257538" y="254635"/>
                </a:lnTo>
                <a:close/>
              </a:path>
            </a:pathLst>
          </a:custGeom>
          <a:solidFill>
            <a:srgbClr val="E8A24F"/>
          </a:solidFill>
          <a:ln/>
        </p:spPr>
      </p:sp>
      <p:sp>
        <p:nvSpPr>
          <p:cNvPr id="20" name="Text 18"/>
          <p:cNvSpPr/>
          <p:nvPr/>
        </p:nvSpPr>
        <p:spPr>
          <a:xfrm>
            <a:off x="11811000" y="6731000"/>
            <a:ext cx="228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Healthcare Users</a:t>
            </a:r>
            <a:endParaRPr lang="en-US" sz="1600" dirty="0"/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Doctors &amp; Patients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7620000"/>
            <a:ext cx="1473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pipeline: from medical documents to grounded answers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E8A24F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Challenge: Complex Medical Literature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2A2A36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Unlike standard RAG implementations, medical literature demands a fundamentally different approach.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standard RAG fails: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476500"/>
            <a:ext cx="4572000" cy="3048000"/>
          </a:xfrm>
          <a:prstGeom prst="rect">
            <a:avLst/>
          </a:prstGeom>
          <a:solidFill>
            <a:srgbClr val="1E1E28"/>
          </a:solidFill>
          <a:ln/>
        </p:spPr>
      </p:sp>
      <p:sp>
        <p:nvSpPr>
          <p:cNvPr id="7" name="Shape 5"/>
          <p:cNvSpPr/>
          <p:nvPr/>
        </p:nvSpPr>
        <p:spPr>
          <a:xfrm>
            <a:off x="1079500" y="2730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04800" y="66675"/>
                </a:moveTo>
                <a:lnTo>
                  <a:pt x="304800" y="111125"/>
                </a:lnTo>
                <a:lnTo>
                  <a:pt x="254000" y="111125"/>
                </a:lnTo>
                <a:lnTo>
                  <a:pt x="254000" y="66675"/>
                </a:lnTo>
                <a:lnTo>
                  <a:pt x="304800" y="66675"/>
                </a:lnTo>
                <a:close/>
                <a:moveTo>
                  <a:pt x="304800" y="155575"/>
                </a:moveTo>
                <a:lnTo>
                  <a:pt x="304800" y="200025"/>
                </a:lnTo>
                <a:lnTo>
                  <a:pt x="254000" y="200025"/>
                </a:lnTo>
                <a:lnTo>
                  <a:pt x="254000" y="155575"/>
                </a:lnTo>
                <a:lnTo>
                  <a:pt x="304800" y="155575"/>
                </a:lnTo>
                <a:close/>
                <a:moveTo>
                  <a:pt x="304800" y="244475"/>
                </a:moveTo>
                <a:lnTo>
                  <a:pt x="304800" y="288925"/>
                </a:lnTo>
                <a:lnTo>
                  <a:pt x="254000" y="288925"/>
                </a:lnTo>
                <a:lnTo>
                  <a:pt x="254000" y="244475"/>
                </a:lnTo>
                <a:lnTo>
                  <a:pt x="304800" y="244475"/>
                </a:lnTo>
                <a:close/>
                <a:moveTo>
                  <a:pt x="203200" y="200025"/>
                </a:moveTo>
                <a:lnTo>
                  <a:pt x="152400" y="200025"/>
                </a:lnTo>
                <a:lnTo>
                  <a:pt x="152400" y="155575"/>
                </a:lnTo>
                <a:lnTo>
                  <a:pt x="203200" y="155575"/>
                </a:lnTo>
                <a:lnTo>
                  <a:pt x="203200" y="200025"/>
                </a:lnTo>
                <a:close/>
                <a:moveTo>
                  <a:pt x="152400" y="244475"/>
                </a:moveTo>
                <a:lnTo>
                  <a:pt x="203200" y="244475"/>
                </a:lnTo>
                <a:lnTo>
                  <a:pt x="203200" y="288925"/>
                </a:lnTo>
                <a:lnTo>
                  <a:pt x="152400" y="288925"/>
                </a:lnTo>
                <a:lnTo>
                  <a:pt x="152400" y="244475"/>
                </a:lnTo>
                <a:close/>
                <a:moveTo>
                  <a:pt x="101600" y="200025"/>
                </a:moveTo>
                <a:lnTo>
                  <a:pt x="50800" y="200025"/>
                </a:lnTo>
                <a:lnTo>
                  <a:pt x="50800" y="155575"/>
                </a:lnTo>
                <a:lnTo>
                  <a:pt x="101600" y="155575"/>
                </a:lnTo>
                <a:lnTo>
                  <a:pt x="101600" y="200025"/>
                </a:lnTo>
                <a:close/>
                <a:moveTo>
                  <a:pt x="50800" y="244475"/>
                </a:moveTo>
                <a:lnTo>
                  <a:pt x="101600" y="244475"/>
                </a:lnTo>
                <a:lnTo>
                  <a:pt x="101600" y="288925"/>
                </a:lnTo>
                <a:lnTo>
                  <a:pt x="50800" y="288925"/>
                </a:lnTo>
                <a:lnTo>
                  <a:pt x="50800" y="244475"/>
                </a:lnTo>
                <a:close/>
                <a:moveTo>
                  <a:pt x="50800" y="111125"/>
                </a:moveTo>
                <a:lnTo>
                  <a:pt x="50800" y="66675"/>
                </a:lnTo>
                <a:lnTo>
                  <a:pt x="101600" y="66675"/>
                </a:lnTo>
                <a:lnTo>
                  <a:pt x="101600" y="111125"/>
                </a:lnTo>
                <a:lnTo>
                  <a:pt x="50800" y="111125"/>
                </a:lnTo>
                <a:close/>
                <a:moveTo>
                  <a:pt x="152400" y="111125"/>
                </a:moveTo>
                <a:lnTo>
                  <a:pt x="152400" y="66675"/>
                </a:lnTo>
                <a:lnTo>
                  <a:pt x="203200" y="66675"/>
                </a:lnTo>
                <a:lnTo>
                  <a:pt x="203200" y="111125"/>
                </a:lnTo>
                <a:lnTo>
                  <a:pt x="152400" y="111125"/>
                </a:lnTo>
                <a:close/>
                <a:moveTo>
                  <a:pt x="50800" y="22225"/>
                </a:moveTo>
                <a:cubicBezTo>
                  <a:pt x="22781" y="22225"/>
                  <a:pt x="0" y="42158"/>
                  <a:pt x="0" y="66675"/>
                </a:cubicBezTo>
                <a:lnTo>
                  <a:pt x="0" y="288925"/>
                </a:lnTo>
                <a:cubicBezTo>
                  <a:pt x="0" y="313442"/>
                  <a:pt x="22781" y="333375"/>
                  <a:pt x="50800" y="333375"/>
                </a:cubicBezTo>
                <a:lnTo>
                  <a:pt x="304800" y="333375"/>
                </a:lnTo>
                <a:cubicBezTo>
                  <a:pt x="332819" y="333375"/>
                  <a:pt x="355600" y="313442"/>
                  <a:pt x="355600" y="288925"/>
                </a:cubicBezTo>
                <a:lnTo>
                  <a:pt x="355600" y="66675"/>
                </a:lnTo>
                <a:cubicBezTo>
                  <a:pt x="355600" y="42158"/>
                  <a:pt x="332819" y="22225"/>
                  <a:pt x="304800" y="22225"/>
                </a:cubicBezTo>
                <a:lnTo>
                  <a:pt x="50800" y="22225"/>
                </a:lnTo>
                <a:close/>
              </a:path>
            </a:pathLst>
          </a:custGeom>
          <a:solidFill>
            <a:srgbClr val="E8A24F"/>
          </a:solidFill>
          <a:ln/>
        </p:spPr>
      </p:sp>
      <p:sp>
        <p:nvSpPr>
          <p:cNvPr id="8" name="Text 6"/>
          <p:cNvSpPr/>
          <p:nvPr/>
        </p:nvSpPr>
        <p:spPr>
          <a:xfrm>
            <a:off x="1079500" y="3238500"/>
            <a:ext cx="393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Borderless Tables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79500" y="3683000"/>
            <a:ext cx="393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Multi-page clinical tables without visible borders cause standard parsers to produce "orphaned rows" and lose critical data relationships.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42000" y="2476500"/>
            <a:ext cx="4572000" cy="3048000"/>
          </a:xfrm>
          <a:prstGeom prst="rect">
            <a:avLst/>
          </a:prstGeom>
          <a:solidFill>
            <a:srgbClr val="1E1E28"/>
          </a:solidFill>
          <a:ln/>
        </p:spPr>
      </p:sp>
      <p:sp>
        <p:nvSpPr>
          <p:cNvPr id="11" name="Shape 9"/>
          <p:cNvSpPr/>
          <p:nvPr/>
        </p:nvSpPr>
        <p:spPr>
          <a:xfrm>
            <a:off x="6159500" y="2730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22225"/>
                </a:moveTo>
                <a:cubicBezTo>
                  <a:pt x="34518" y="22225"/>
                  <a:pt x="44450" y="32157"/>
                  <a:pt x="44450" y="44450"/>
                </a:cubicBezTo>
                <a:lnTo>
                  <a:pt x="44450" y="277813"/>
                </a:lnTo>
                <a:cubicBezTo>
                  <a:pt x="44450" y="283924"/>
                  <a:pt x="49451" y="288925"/>
                  <a:pt x="55563" y="288925"/>
                </a:cubicBezTo>
                <a:lnTo>
                  <a:pt x="333375" y="288925"/>
                </a:lnTo>
                <a:cubicBezTo>
                  <a:pt x="345668" y="288925"/>
                  <a:pt x="355600" y="298857"/>
                  <a:pt x="355600" y="311150"/>
                </a:cubicBezTo>
                <a:cubicBezTo>
                  <a:pt x="355600" y="323443"/>
                  <a:pt x="345668" y="333375"/>
                  <a:pt x="333375" y="333375"/>
                </a:cubicBezTo>
                <a:lnTo>
                  <a:pt x="55563" y="333375"/>
                </a:lnTo>
                <a:cubicBezTo>
                  <a:pt x="24864" y="333375"/>
                  <a:pt x="0" y="308511"/>
                  <a:pt x="0" y="277813"/>
                </a:cubicBezTo>
                <a:lnTo>
                  <a:pt x="0" y="44450"/>
                </a:lnTo>
                <a:cubicBezTo>
                  <a:pt x="0" y="32157"/>
                  <a:pt x="9932" y="22225"/>
                  <a:pt x="22225" y="22225"/>
                </a:cubicBezTo>
                <a:close/>
                <a:moveTo>
                  <a:pt x="88900" y="66675"/>
                </a:moveTo>
                <a:cubicBezTo>
                  <a:pt x="88900" y="54382"/>
                  <a:pt x="98832" y="44450"/>
                  <a:pt x="111125" y="44450"/>
                </a:cubicBezTo>
                <a:lnTo>
                  <a:pt x="244475" y="44450"/>
                </a:lnTo>
                <a:cubicBezTo>
                  <a:pt x="256768" y="44450"/>
                  <a:pt x="266700" y="54382"/>
                  <a:pt x="266700" y="66675"/>
                </a:cubicBezTo>
                <a:cubicBezTo>
                  <a:pt x="266700" y="78968"/>
                  <a:pt x="256768" y="88900"/>
                  <a:pt x="244475" y="88900"/>
                </a:cubicBezTo>
                <a:lnTo>
                  <a:pt x="111125" y="88900"/>
                </a:lnTo>
                <a:cubicBezTo>
                  <a:pt x="98832" y="88900"/>
                  <a:pt x="88900" y="78968"/>
                  <a:pt x="88900" y="66675"/>
                </a:cubicBezTo>
                <a:close/>
                <a:moveTo>
                  <a:pt x="111125" y="122238"/>
                </a:moveTo>
                <a:lnTo>
                  <a:pt x="200025" y="122238"/>
                </a:lnTo>
                <a:cubicBezTo>
                  <a:pt x="212318" y="122238"/>
                  <a:pt x="222250" y="132169"/>
                  <a:pt x="222250" y="144463"/>
                </a:cubicBezTo>
                <a:cubicBezTo>
                  <a:pt x="222250" y="156756"/>
                  <a:pt x="212318" y="166688"/>
                  <a:pt x="200025" y="166688"/>
                </a:cubicBezTo>
                <a:lnTo>
                  <a:pt x="111125" y="166688"/>
                </a:lnTo>
                <a:cubicBezTo>
                  <a:pt x="98832" y="166688"/>
                  <a:pt x="88900" y="156756"/>
                  <a:pt x="88900" y="144463"/>
                </a:cubicBezTo>
                <a:cubicBezTo>
                  <a:pt x="88900" y="132169"/>
                  <a:pt x="98832" y="122238"/>
                  <a:pt x="111125" y="122238"/>
                </a:cubicBezTo>
                <a:close/>
                <a:moveTo>
                  <a:pt x="111125" y="200025"/>
                </a:moveTo>
                <a:lnTo>
                  <a:pt x="288925" y="200025"/>
                </a:lnTo>
                <a:cubicBezTo>
                  <a:pt x="301218" y="200025"/>
                  <a:pt x="311150" y="209957"/>
                  <a:pt x="311150" y="222250"/>
                </a:cubicBezTo>
                <a:cubicBezTo>
                  <a:pt x="311150" y="234543"/>
                  <a:pt x="301218" y="244475"/>
                  <a:pt x="288925" y="244475"/>
                </a:cubicBezTo>
                <a:lnTo>
                  <a:pt x="111125" y="244475"/>
                </a:lnTo>
                <a:cubicBezTo>
                  <a:pt x="98832" y="244475"/>
                  <a:pt x="88900" y="234543"/>
                  <a:pt x="88900" y="222250"/>
                </a:cubicBezTo>
                <a:cubicBezTo>
                  <a:pt x="88900" y="209957"/>
                  <a:pt x="98832" y="200025"/>
                  <a:pt x="111125" y="200025"/>
                </a:cubicBezTo>
                <a:close/>
              </a:path>
            </a:pathLst>
          </a:custGeom>
          <a:solidFill>
            <a:srgbClr val="E8A24F"/>
          </a:solidFill>
          <a:ln/>
        </p:spPr>
      </p:sp>
      <p:sp>
        <p:nvSpPr>
          <p:cNvPr id="12" name="Text 10"/>
          <p:cNvSpPr/>
          <p:nvPr/>
        </p:nvSpPr>
        <p:spPr>
          <a:xfrm>
            <a:off x="6159500" y="3238500"/>
            <a:ext cx="393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Dense Statistical Data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159500" y="3683000"/>
            <a:ext cx="393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Systematic Reviews and Meta-Analyses contain tightly packed statistics that fragment under naive chunking strategies.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22000" y="2476500"/>
            <a:ext cx="4572000" cy="3048000"/>
          </a:xfrm>
          <a:prstGeom prst="rect">
            <a:avLst/>
          </a:prstGeom>
          <a:solidFill>
            <a:srgbClr val="1E1E2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239500" y="2730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38073" y="1250"/>
                </a:moveTo>
                <a:cubicBezTo>
                  <a:pt x="144324" y="-1320"/>
                  <a:pt x="151477" y="69"/>
                  <a:pt x="156270" y="4862"/>
                </a:cubicBezTo>
                <a:lnTo>
                  <a:pt x="195163" y="43755"/>
                </a:lnTo>
                <a:cubicBezTo>
                  <a:pt x="201692" y="50284"/>
                  <a:pt x="201692" y="60841"/>
                  <a:pt x="195163" y="67300"/>
                </a:cubicBezTo>
                <a:lnTo>
                  <a:pt x="156270" y="106194"/>
                </a:lnTo>
                <a:cubicBezTo>
                  <a:pt x="151477" y="110986"/>
                  <a:pt x="144324" y="112375"/>
                  <a:pt x="138073" y="109805"/>
                </a:cubicBezTo>
                <a:cubicBezTo>
                  <a:pt x="131822" y="107236"/>
                  <a:pt x="127794" y="101193"/>
                  <a:pt x="127794" y="94456"/>
                </a:cubicBezTo>
                <a:lnTo>
                  <a:pt x="127794" y="77788"/>
                </a:lnTo>
                <a:lnTo>
                  <a:pt x="111125" y="77788"/>
                </a:lnTo>
                <a:cubicBezTo>
                  <a:pt x="98832" y="77788"/>
                  <a:pt x="88900" y="87719"/>
                  <a:pt x="88900" y="100013"/>
                </a:cubicBezTo>
                <a:lnTo>
                  <a:pt x="88900" y="249128"/>
                </a:lnTo>
                <a:cubicBezTo>
                  <a:pt x="108555" y="257671"/>
                  <a:pt x="122238" y="277257"/>
                  <a:pt x="122238" y="300038"/>
                </a:cubicBezTo>
                <a:cubicBezTo>
                  <a:pt x="122238" y="330736"/>
                  <a:pt x="97373" y="355600"/>
                  <a:pt x="66675" y="355600"/>
                </a:cubicBezTo>
                <a:cubicBezTo>
                  <a:pt x="35977" y="355600"/>
                  <a:pt x="11112" y="330736"/>
                  <a:pt x="11112" y="300038"/>
                </a:cubicBezTo>
                <a:cubicBezTo>
                  <a:pt x="11112" y="277257"/>
                  <a:pt x="24795" y="257671"/>
                  <a:pt x="44450" y="249128"/>
                </a:cubicBezTo>
                <a:lnTo>
                  <a:pt x="44450" y="100013"/>
                </a:lnTo>
                <a:cubicBezTo>
                  <a:pt x="44450" y="63202"/>
                  <a:pt x="74315" y="33337"/>
                  <a:pt x="111125" y="33337"/>
                </a:cubicBezTo>
                <a:lnTo>
                  <a:pt x="127794" y="33337"/>
                </a:lnTo>
                <a:lnTo>
                  <a:pt x="127794" y="16669"/>
                </a:lnTo>
                <a:cubicBezTo>
                  <a:pt x="127794" y="9932"/>
                  <a:pt x="131822" y="3820"/>
                  <a:pt x="138073" y="1250"/>
                </a:cubicBezTo>
                <a:close/>
                <a:moveTo>
                  <a:pt x="272256" y="55563"/>
                </a:moveTo>
                <a:cubicBezTo>
                  <a:pt x="272256" y="64762"/>
                  <a:pt x="279725" y="72231"/>
                  <a:pt x="288925" y="72231"/>
                </a:cubicBezTo>
                <a:cubicBezTo>
                  <a:pt x="298125" y="72231"/>
                  <a:pt x="305594" y="64762"/>
                  <a:pt x="305594" y="55563"/>
                </a:cubicBezTo>
                <a:cubicBezTo>
                  <a:pt x="305594" y="46363"/>
                  <a:pt x="298125" y="38894"/>
                  <a:pt x="288925" y="38894"/>
                </a:cubicBezTo>
                <a:cubicBezTo>
                  <a:pt x="279725" y="38894"/>
                  <a:pt x="272256" y="46363"/>
                  <a:pt x="272256" y="55563"/>
                </a:cubicBezTo>
                <a:close/>
                <a:moveTo>
                  <a:pt x="266700" y="106472"/>
                </a:moveTo>
                <a:cubicBezTo>
                  <a:pt x="247045" y="97929"/>
                  <a:pt x="233363" y="78343"/>
                  <a:pt x="233363" y="55563"/>
                </a:cubicBezTo>
                <a:cubicBezTo>
                  <a:pt x="233363" y="24864"/>
                  <a:pt x="258227" y="0"/>
                  <a:pt x="288925" y="0"/>
                </a:cubicBezTo>
                <a:cubicBezTo>
                  <a:pt x="319623" y="0"/>
                  <a:pt x="344488" y="24864"/>
                  <a:pt x="344488" y="55563"/>
                </a:cubicBezTo>
                <a:cubicBezTo>
                  <a:pt x="344488" y="78343"/>
                  <a:pt x="330805" y="97929"/>
                  <a:pt x="311150" y="106472"/>
                </a:cubicBezTo>
                <a:lnTo>
                  <a:pt x="311150" y="255587"/>
                </a:lnTo>
                <a:cubicBezTo>
                  <a:pt x="311150" y="292398"/>
                  <a:pt x="281285" y="322263"/>
                  <a:pt x="244475" y="322263"/>
                </a:cubicBezTo>
                <a:lnTo>
                  <a:pt x="227806" y="322263"/>
                </a:lnTo>
                <a:lnTo>
                  <a:pt x="227806" y="338931"/>
                </a:lnTo>
                <a:cubicBezTo>
                  <a:pt x="227806" y="345668"/>
                  <a:pt x="223778" y="351780"/>
                  <a:pt x="217527" y="354350"/>
                </a:cubicBezTo>
                <a:cubicBezTo>
                  <a:pt x="211276" y="356920"/>
                  <a:pt x="204123" y="355531"/>
                  <a:pt x="199330" y="350738"/>
                </a:cubicBezTo>
                <a:lnTo>
                  <a:pt x="160437" y="311845"/>
                </a:lnTo>
                <a:cubicBezTo>
                  <a:pt x="153908" y="305316"/>
                  <a:pt x="153908" y="294759"/>
                  <a:pt x="160437" y="288300"/>
                </a:cubicBezTo>
                <a:lnTo>
                  <a:pt x="199330" y="249406"/>
                </a:lnTo>
                <a:cubicBezTo>
                  <a:pt x="204123" y="244614"/>
                  <a:pt x="211276" y="243225"/>
                  <a:pt x="217527" y="245795"/>
                </a:cubicBezTo>
                <a:cubicBezTo>
                  <a:pt x="223778" y="248364"/>
                  <a:pt x="227806" y="254407"/>
                  <a:pt x="227806" y="261144"/>
                </a:cubicBezTo>
                <a:lnTo>
                  <a:pt x="227806" y="277813"/>
                </a:lnTo>
                <a:lnTo>
                  <a:pt x="244475" y="277813"/>
                </a:lnTo>
                <a:cubicBezTo>
                  <a:pt x="256768" y="277813"/>
                  <a:pt x="266700" y="267881"/>
                  <a:pt x="266700" y="255587"/>
                </a:cubicBezTo>
                <a:lnTo>
                  <a:pt x="266700" y="106472"/>
                </a:lnTo>
                <a:close/>
                <a:moveTo>
                  <a:pt x="50006" y="300038"/>
                </a:moveTo>
                <a:cubicBezTo>
                  <a:pt x="50006" y="309237"/>
                  <a:pt x="57475" y="316706"/>
                  <a:pt x="66675" y="316706"/>
                </a:cubicBezTo>
                <a:cubicBezTo>
                  <a:pt x="75875" y="316706"/>
                  <a:pt x="83344" y="309237"/>
                  <a:pt x="83344" y="300038"/>
                </a:cubicBezTo>
                <a:cubicBezTo>
                  <a:pt x="83344" y="290838"/>
                  <a:pt x="75875" y="283369"/>
                  <a:pt x="66675" y="283369"/>
                </a:cubicBezTo>
                <a:cubicBezTo>
                  <a:pt x="57475" y="283369"/>
                  <a:pt x="50006" y="290838"/>
                  <a:pt x="50006" y="300038"/>
                </a:cubicBezTo>
                <a:close/>
              </a:path>
            </a:pathLst>
          </a:custGeom>
          <a:solidFill>
            <a:srgbClr val="E8A24F"/>
          </a:solidFill>
          <a:ln/>
        </p:spPr>
      </p:sp>
      <p:sp>
        <p:nvSpPr>
          <p:cNvPr id="16" name="Text 14"/>
          <p:cNvSpPr/>
          <p:nvPr/>
        </p:nvSpPr>
        <p:spPr>
          <a:xfrm>
            <a:off x="11239500" y="3238500"/>
            <a:ext cx="393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Multi-Entity Queries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239500" y="3683000"/>
            <a:ext cx="393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Comparative queries like "compare AUCs across studies" require precise retrieval of multiple related but distinct entities.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5905500"/>
            <a:ext cx="14732000" cy="2159000"/>
          </a:xfrm>
          <a:prstGeom prst="rect">
            <a:avLst/>
          </a:prstGeom>
          <a:solidFill>
            <a:srgbClr val="1E1E28"/>
          </a:solidFill>
          <a:ln/>
        </p:spPr>
      </p:sp>
      <p:sp>
        <p:nvSpPr>
          <p:cNvPr id="19" name="Shape 17"/>
          <p:cNvSpPr/>
          <p:nvPr/>
        </p:nvSpPr>
        <p:spPr>
          <a:xfrm>
            <a:off x="762000" y="5905500"/>
            <a:ext cx="50800" cy="2159000"/>
          </a:xfrm>
          <a:prstGeom prst="rect">
            <a:avLst/>
          </a:prstGeom>
          <a:solidFill>
            <a:srgbClr val="E8A24F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6096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Solution: A Purpose-Built Medical RAG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43000" y="6604000"/>
            <a:ext cx="13970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Sehatek Knowledge RAG is engineered from the ground up to handle these challenges through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parsing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vision models,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chunking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preserves structure,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retrieval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maximum recall, and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precision reranking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surface exactly the right context.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lqybweg4voaw/mnt/agents/output/sehatek-rag/images/2_Neural_Network_Visualization_with.png">    </p:cNvPr>
          <p:cNvPicPr>
            <a:picLocks noChangeAspect="1"/>
          </p:cNvPicPr>
          <p:nvPr/>
        </p:nvPicPr>
        <p:blipFill>
          <a:blip r:embed="rId1"/>
          <a:srcRect l="20111" r="20111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D0D12">
                  <a:alpha val="38000"/>
                </a:srgbClr>
              </a:gs>
              <a:gs pos="50000">
                <a:srgbClr val="0D0D12">
                  <a:alpha val="75000"/>
                </a:srgbClr>
              </a:gs>
              <a:gs pos="100000">
                <a:srgbClr val="0D0D12">
                  <a:alpha val="94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286000"/>
            <a:ext cx="381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0" b="1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Shape 2"/>
          <p:cNvSpPr/>
          <p:nvPr/>
        </p:nvSpPr>
        <p:spPr>
          <a:xfrm>
            <a:off x="762000" y="4064000"/>
            <a:ext cx="762000" cy="38100"/>
          </a:xfrm>
          <a:prstGeom prst="rect">
            <a:avLst/>
          </a:prstGeom>
          <a:solidFill>
            <a:srgbClr val="E8A24F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318000"/>
            <a:ext cx="1143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spc="200" kern="0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ARCHITECTURE &amp; FEATURES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62000" y="51435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multi-layered pipeline engineered for medical document complexity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E8A24F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Document Parsing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2A2A36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87500"/>
            <a:ext cx="787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Uses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LlamaParse Premium Vision Mode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custom parsing instructions specifically designed for medical documents.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Handles borderless, complex clinical tables by extracting them into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continuous, self-contained, context-rich markdown strings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0" y="1587500"/>
            <a:ext cx="6350000" cy="2794000"/>
          </a:xfrm>
          <a:prstGeom prst="rect">
            <a:avLst/>
          </a:prstGeom>
          <a:solidFill>
            <a:srgbClr val="1E1E28"/>
          </a:solidFill>
          <a:ln/>
        </p:spPr>
      </p:sp>
      <p:sp>
        <p:nvSpPr>
          <p:cNvPr id="7" name="Text 5"/>
          <p:cNvSpPr/>
          <p:nvPr/>
        </p:nvSpPr>
        <p:spPr>
          <a:xfrm>
            <a:off x="9461500" y="1778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TECHNOLOGY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461500" y="2133600"/>
            <a:ext cx="5715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LlamaParse Premium Vision Mode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Custom parsing instructions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Markdown-native output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Table structure preservation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4508500"/>
            <a:ext cx="7048500" cy="3556000"/>
          </a:xfrm>
          <a:prstGeom prst="rect">
            <a:avLst/>
          </a:prstGeom>
          <a:solidFill>
            <a:srgbClr val="1E1E28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4508500"/>
            <a:ext cx="7048500" cy="50800"/>
          </a:xfrm>
          <a:prstGeom prst="rect">
            <a:avLst/>
          </a:prstGeom>
          <a:solidFill>
            <a:srgbClr val="C05050"/>
          </a:solidFill>
          <a:ln/>
        </p:spPr>
      </p:sp>
      <p:sp>
        <p:nvSpPr>
          <p:cNvPr id="11" name="Text 9"/>
          <p:cNvSpPr/>
          <p:nvPr/>
        </p:nvSpPr>
        <p:spPr>
          <a:xfrm>
            <a:off x="1079500" y="4762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C050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9500" y="5143500"/>
            <a:ext cx="6413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"Orphaned Rows" in Standard Parsers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79500" y="5651500"/>
            <a:ext cx="64135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 parsers split tables at arbitrary row boundaries, losing the semantic connection between headers and data. A row like "AUC: 0.94 (95% CI: 0.91-0.96)" becomes meaningless without its column context.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Result: 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incomplete retrieval and inaccurate answers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445500" y="4508500"/>
            <a:ext cx="7048500" cy="3556000"/>
          </a:xfrm>
          <a:prstGeom prst="rect">
            <a:avLst/>
          </a:prstGeom>
          <a:solidFill>
            <a:srgbClr val="1E1E28"/>
          </a:solidFill>
          <a:ln/>
        </p:spPr>
      </p:sp>
      <p:sp>
        <p:nvSpPr>
          <p:cNvPr id="15" name="Shape 13"/>
          <p:cNvSpPr/>
          <p:nvPr/>
        </p:nvSpPr>
        <p:spPr>
          <a:xfrm>
            <a:off x="8445500" y="4508500"/>
            <a:ext cx="7048500" cy="50800"/>
          </a:xfrm>
          <a:prstGeom prst="rect">
            <a:avLst/>
          </a:prstGeom>
          <a:solidFill>
            <a:srgbClr val="E8A24F"/>
          </a:solidFill>
          <a:ln/>
        </p:spPr>
      </p:sp>
      <p:sp>
        <p:nvSpPr>
          <p:cNvPr id="16" name="Text 14"/>
          <p:cNvSpPr/>
          <p:nvPr/>
        </p:nvSpPr>
        <p:spPr>
          <a:xfrm>
            <a:off x="8763000" y="4762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63000" y="5143500"/>
            <a:ext cx="6413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Context-Rich Markdown Extraction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763000" y="5651500"/>
            <a:ext cx="64135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LlamaParse with custom instructions converts each table into a self-contained markdown block where every row carries its full context. No data is orphaned.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Result: 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retrieval with preserved semantics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E8A24F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Multi-Layered Chunking Strategy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2A2A36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147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two-stage pipeline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preserves document hierarchy while optimizing chunk boundaries for retrieval.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222500"/>
            <a:ext cx="7048500" cy="3746500"/>
          </a:xfrm>
          <a:prstGeom prst="rect">
            <a:avLst/>
          </a:prstGeom>
          <a:solidFill>
            <a:srgbClr val="1E1E28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4130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778000" y="2413000"/>
            <a:ext cx="571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MarkdownHeaderTextSplitter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16000" y="3048000"/>
            <a:ext cx="6477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Splits documents at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markdown header boundaries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preserving the natural hierarchical structure of medical literature.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Sections stay together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Subsections remain intact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Table-context links preserved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01000" y="3556000"/>
            <a:ext cx="0" cy="762000"/>
          </a:xfrm>
          <a:prstGeom prst="straightConnector1">
            <a:avLst/>
          </a:prstGeom>
          <a:noFill/>
          <a:ln w="25400">
            <a:solidFill>
              <a:srgbClr val="E8A24F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8445500" y="2222500"/>
            <a:ext cx="7048500" cy="3556000"/>
          </a:xfrm>
          <a:prstGeom prst="rect">
            <a:avLst/>
          </a:prstGeom>
          <a:solidFill>
            <a:srgbClr val="1E1E28"/>
          </a:solidFill>
          <a:ln/>
        </p:spPr>
      </p:sp>
      <p:sp>
        <p:nvSpPr>
          <p:cNvPr id="12" name="Text 10"/>
          <p:cNvSpPr/>
          <p:nvPr/>
        </p:nvSpPr>
        <p:spPr>
          <a:xfrm>
            <a:off x="8699500" y="24130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9461500" y="2413000"/>
            <a:ext cx="571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RecursiveCharacterTextSplitter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699500" y="3048000"/>
            <a:ext cx="6477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Further splits with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chunk sizes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ensure optimal boundaries without breaking semantic units.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Dynamic size adaptation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Table-aware splitting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Overlap for context continuity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6159500"/>
            <a:ext cx="14732000" cy="1968500"/>
          </a:xfrm>
          <a:prstGeom prst="rect">
            <a:avLst/>
          </a:prstGeom>
          <a:solidFill>
            <a:srgbClr val="1E1E28"/>
          </a:solidFill>
          <a:ln/>
        </p:spPr>
      </p:sp>
      <p:sp>
        <p:nvSpPr>
          <p:cNvPr id="16" name="Shape 14"/>
          <p:cNvSpPr/>
          <p:nvPr/>
        </p:nvSpPr>
        <p:spPr>
          <a:xfrm>
            <a:off x="762000" y="6159500"/>
            <a:ext cx="50800" cy="1968500"/>
          </a:xfrm>
          <a:prstGeom prst="rect">
            <a:avLst/>
          </a:prstGeom>
          <a:solidFill>
            <a:srgbClr val="E8A24F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63246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6705600"/>
            <a:ext cx="13970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integrity is preserved through specialized handling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tables are kept whole when possible, and split only at semantic row boundaries when necessary. This prevents the context fragmentation that destroys the meaning of clinical data.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E8A24F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Search Retrieval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2A2A36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147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Combines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Dense Vector Search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Sparse Search (BM25)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via Qdrant to maximize retrieval recall.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222500"/>
            <a:ext cx="7048500" cy="3683000"/>
          </a:xfrm>
          <a:prstGeom prst="rect">
            <a:avLst/>
          </a:prstGeom>
          <a:solidFill>
            <a:srgbClr val="1E1E28"/>
          </a:solidFill>
          <a:ln/>
        </p:spPr>
      </p:sp>
      <p:sp>
        <p:nvSpPr>
          <p:cNvPr id="7" name="Shape 5"/>
          <p:cNvSpPr/>
          <p:nvPr/>
        </p:nvSpPr>
        <p:spPr>
          <a:xfrm>
            <a:off x="1079500" y="2476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95250" y="44450"/>
                </a:moveTo>
                <a:cubicBezTo>
                  <a:pt x="95250" y="19923"/>
                  <a:pt x="115173" y="0"/>
                  <a:pt x="139700" y="0"/>
                </a:cubicBezTo>
                <a:lnTo>
                  <a:pt x="158750" y="0"/>
                </a:lnTo>
                <a:cubicBezTo>
                  <a:pt x="172799" y="0"/>
                  <a:pt x="184150" y="11351"/>
                  <a:pt x="184150" y="25400"/>
                </a:cubicBezTo>
                <a:lnTo>
                  <a:pt x="184150" y="381000"/>
                </a:lnTo>
                <a:cubicBezTo>
                  <a:pt x="184150" y="395049"/>
                  <a:pt x="172799" y="406400"/>
                  <a:pt x="158750" y="406400"/>
                </a:cubicBezTo>
                <a:lnTo>
                  <a:pt x="133350" y="406400"/>
                </a:lnTo>
                <a:cubicBezTo>
                  <a:pt x="109696" y="406400"/>
                  <a:pt x="89773" y="390208"/>
                  <a:pt x="84138" y="368300"/>
                </a:cubicBezTo>
                <a:cubicBezTo>
                  <a:pt x="83582" y="368300"/>
                  <a:pt x="83106" y="368300"/>
                  <a:pt x="82550" y="368300"/>
                </a:cubicBezTo>
                <a:cubicBezTo>
                  <a:pt x="47466" y="368300"/>
                  <a:pt x="19050" y="339884"/>
                  <a:pt x="19050" y="304800"/>
                </a:cubicBezTo>
                <a:cubicBezTo>
                  <a:pt x="19050" y="290513"/>
                  <a:pt x="23813" y="277336"/>
                  <a:pt x="31750" y="266700"/>
                </a:cubicBezTo>
                <a:cubicBezTo>
                  <a:pt x="16351" y="255111"/>
                  <a:pt x="6350" y="236696"/>
                  <a:pt x="6350" y="215900"/>
                </a:cubicBezTo>
                <a:cubicBezTo>
                  <a:pt x="6350" y="191373"/>
                  <a:pt x="20320" y="170021"/>
                  <a:pt x="40640" y="159464"/>
                </a:cubicBezTo>
                <a:cubicBezTo>
                  <a:pt x="35004" y="149939"/>
                  <a:pt x="31750" y="138827"/>
                  <a:pt x="31750" y="127000"/>
                </a:cubicBezTo>
                <a:cubicBezTo>
                  <a:pt x="31750" y="91916"/>
                  <a:pt x="60166" y="63500"/>
                  <a:pt x="95250" y="63500"/>
                </a:cubicBezTo>
                <a:lnTo>
                  <a:pt x="95250" y="44450"/>
                </a:lnTo>
                <a:close/>
                <a:moveTo>
                  <a:pt x="311150" y="44450"/>
                </a:moveTo>
                <a:lnTo>
                  <a:pt x="311150" y="63500"/>
                </a:lnTo>
                <a:cubicBezTo>
                  <a:pt x="346234" y="63500"/>
                  <a:pt x="374650" y="91916"/>
                  <a:pt x="374650" y="127000"/>
                </a:cubicBezTo>
                <a:cubicBezTo>
                  <a:pt x="374650" y="138906"/>
                  <a:pt x="371396" y="150019"/>
                  <a:pt x="365760" y="159464"/>
                </a:cubicBezTo>
                <a:cubicBezTo>
                  <a:pt x="386159" y="170021"/>
                  <a:pt x="400050" y="191294"/>
                  <a:pt x="400050" y="215900"/>
                </a:cubicBezTo>
                <a:cubicBezTo>
                  <a:pt x="400050" y="236696"/>
                  <a:pt x="390049" y="255111"/>
                  <a:pt x="374650" y="266700"/>
                </a:cubicBezTo>
                <a:cubicBezTo>
                  <a:pt x="382588" y="277336"/>
                  <a:pt x="387350" y="290513"/>
                  <a:pt x="387350" y="304800"/>
                </a:cubicBezTo>
                <a:cubicBezTo>
                  <a:pt x="387350" y="339884"/>
                  <a:pt x="358934" y="368300"/>
                  <a:pt x="323850" y="368300"/>
                </a:cubicBezTo>
                <a:cubicBezTo>
                  <a:pt x="323294" y="368300"/>
                  <a:pt x="322818" y="368300"/>
                  <a:pt x="322263" y="368300"/>
                </a:cubicBezTo>
                <a:cubicBezTo>
                  <a:pt x="316627" y="390208"/>
                  <a:pt x="296704" y="406400"/>
                  <a:pt x="273050" y="406400"/>
                </a:cubicBezTo>
                <a:lnTo>
                  <a:pt x="247650" y="406400"/>
                </a:lnTo>
                <a:cubicBezTo>
                  <a:pt x="233601" y="406400"/>
                  <a:pt x="222250" y="395049"/>
                  <a:pt x="222250" y="381000"/>
                </a:cubicBezTo>
                <a:lnTo>
                  <a:pt x="222250" y="25400"/>
                </a:lnTo>
                <a:cubicBezTo>
                  <a:pt x="222250" y="11351"/>
                  <a:pt x="233601" y="0"/>
                  <a:pt x="247650" y="0"/>
                </a:cubicBezTo>
                <a:lnTo>
                  <a:pt x="266700" y="0"/>
                </a:lnTo>
                <a:cubicBezTo>
                  <a:pt x="291227" y="0"/>
                  <a:pt x="311150" y="19923"/>
                  <a:pt x="311150" y="44450"/>
                </a:cubicBezTo>
                <a:close/>
              </a:path>
            </a:pathLst>
          </a:custGeom>
          <a:solidFill>
            <a:srgbClr val="E8A24F"/>
          </a:solidFill>
          <a:ln/>
        </p:spPr>
      </p:sp>
      <p:sp>
        <p:nvSpPr>
          <p:cNvPr id="8" name="Text 6"/>
          <p:cNvSpPr/>
          <p:nvPr/>
        </p:nvSpPr>
        <p:spPr>
          <a:xfrm>
            <a:off x="1651000" y="2476500"/>
            <a:ext cx="584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Dense Vector Search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79500" y="3111500"/>
            <a:ext cx="64135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Embeds documents and queries into high-dimensional vectors, capturing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meaning and conceptual relationships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Finds conceptually related content even when keywords don't match — essential for medical synonyms and related conditions.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445500" y="2222500"/>
            <a:ext cx="7048500" cy="3302000"/>
          </a:xfrm>
          <a:prstGeom prst="rect">
            <a:avLst/>
          </a:prstGeom>
          <a:solidFill>
            <a:srgbClr val="1E1E28"/>
          </a:solidFill>
          <a:ln/>
        </p:spPr>
      </p:sp>
      <p:sp>
        <p:nvSpPr>
          <p:cNvPr id="11" name="Shape 9"/>
          <p:cNvSpPr/>
          <p:nvPr/>
        </p:nvSpPr>
        <p:spPr>
          <a:xfrm>
            <a:off x="8763000" y="2476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26298" y="40243"/>
                </a:moveTo>
                <a:cubicBezTo>
                  <a:pt x="222171" y="31194"/>
                  <a:pt x="213122" y="25400"/>
                  <a:pt x="203200" y="25400"/>
                </a:cubicBezTo>
                <a:cubicBezTo>
                  <a:pt x="193278" y="25400"/>
                  <a:pt x="184229" y="31194"/>
                  <a:pt x="180102" y="40243"/>
                </a:cubicBezTo>
                <a:lnTo>
                  <a:pt x="47228" y="330200"/>
                </a:lnTo>
                <a:lnTo>
                  <a:pt x="38100" y="330200"/>
                </a:lnTo>
                <a:cubicBezTo>
                  <a:pt x="24051" y="330200"/>
                  <a:pt x="12700" y="341551"/>
                  <a:pt x="12700" y="355600"/>
                </a:cubicBezTo>
                <a:cubicBezTo>
                  <a:pt x="12700" y="369649"/>
                  <a:pt x="24051" y="381000"/>
                  <a:pt x="38100" y="381000"/>
                </a:cubicBezTo>
                <a:lnTo>
                  <a:pt x="107950" y="381000"/>
                </a:lnTo>
                <a:cubicBezTo>
                  <a:pt x="121999" y="381000"/>
                  <a:pt x="133350" y="369649"/>
                  <a:pt x="133350" y="355600"/>
                </a:cubicBezTo>
                <a:cubicBezTo>
                  <a:pt x="133350" y="341551"/>
                  <a:pt x="121999" y="330200"/>
                  <a:pt x="107950" y="330200"/>
                </a:cubicBezTo>
                <a:lnTo>
                  <a:pt x="103108" y="330200"/>
                </a:lnTo>
                <a:lnTo>
                  <a:pt x="120571" y="292100"/>
                </a:lnTo>
                <a:lnTo>
                  <a:pt x="285909" y="292100"/>
                </a:lnTo>
                <a:lnTo>
                  <a:pt x="303371" y="330200"/>
                </a:lnTo>
                <a:lnTo>
                  <a:pt x="298529" y="330200"/>
                </a:lnTo>
                <a:cubicBezTo>
                  <a:pt x="284480" y="330200"/>
                  <a:pt x="273129" y="341551"/>
                  <a:pt x="273129" y="355600"/>
                </a:cubicBezTo>
                <a:cubicBezTo>
                  <a:pt x="273129" y="369649"/>
                  <a:pt x="284480" y="381000"/>
                  <a:pt x="298529" y="381000"/>
                </a:cubicBezTo>
                <a:lnTo>
                  <a:pt x="368379" y="381000"/>
                </a:lnTo>
                <a:cubicBezTo>
                  <a:pt x="382429" y="381000"/>
                  <a:pt x="393779" y="369649"/>
                  <a:pt x="393779" y="355600"/>
                </a:cubicBezTo>
                <a:cubicBezTo>
                  <a:pt x="393779" y="341551"/>
                  <a:pt x="382429" y="330200"/>
                  <a:pt x="368379" y="330200"/>
                </a:cubicBezTo>
                <a:lnTo>
                  <a:pt x="359251" y="330200"/>
                </a:lnTo>
                <a:lnTo>
                  <a:pt x="226378" y="40243"/>
                </a:lnTo>
                <a:close/>
                <a:moveTo>
                  <a:pt x="262573" y="241300"/>
                </a:moveTo>
                <a:lnTo>
                  <a:pt x="143828" y="241300"/>
                </a:lnTo>
                <a:lnTo>
                  <a:pt x="203200" y="111760"/>
                </a:lnTo>
                <a:lnTo>
                  <a:pt x="262573" y="241300"/>
                </a:lnTo>
                <a:close/>
              </a:path>
            </a:pathLst>
          </a:custGeom>
          <a:solidFill>
            <a:srgbClr val="E8A24F"/>
          </a:solidFill>
          <a:ln/>
        </p:spPr>
      </p:sp>
      <p:sp>
        <p:nvSpPr>
          <p:cNvPr id="12" name="Text 10"/>
          <p:cNvSpPr/>
          <p:nvPr/>
        </p:nvSpPr>
        <p:spPr>
          <a:xfrm>
            <a:off x="9334500" y="2476500"/>
            <a:ext cx="584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Sparse Search (BM25)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763000" y="3111500"/>
            <a:ext cx="64135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Classic keyword matching algorithm ensuring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exact terminology and precise keyword hits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critical for medical queries.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Essential for drug names, specific metrics (AUC, sensitivity), and exact medical terminology that must match precisely.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5905500"/>
            <a:ext cx="14732000" cy="2222500"/>
          </a:xfrm>
          <a:prstGeom prst="rect">
            <a:avLst/>
          </a:prstGeom>
          <a:solidFill>
            <a:srgbClr val="1E1E28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5905500"/>
            <a:ext cx="50800" cy="2222500"/>
          </a:xfrm>
          <a:prstGeom prst="rect">
            <a:avLst/>
          </a:prstGeom>
          <a:solidFill>
            <a:srgbClr val="E8A24F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60706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FUSION STRATEGY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6413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Hybrid Beats Either Alone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43000" y="6921500"/>
            <a:ext cx="1397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Dense search alone misses exact keyword matches. BM25 alone misses semantic relationships.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Together, they maximize recall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across massive medical document collections — ensuring no relevant context is left behind.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E8A24F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Cross-Encoder Reranking Layer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2A2A36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87500"/>
            <a:ext cx="8128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Applies a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sentence-transformers/cross-encoder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NLP reranker on top of initial retrieval results from Qdrant.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second-pass scoring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re-evaluates each candidate chunk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against the full query context, overcoming the limitations of first-stage retrieval.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398000" y="1587500"/>
            <a:ext cx="6096000" cy="2921000"/>
          </a:xfrm>
          <a:prstGeom prst="rect">
            <a:avLst/>
          </a:prstGeom>
          <a:solidFill>
            <a:srgbClr val="1E1E28"/>
          </a:solidFill>
          <a:ln/>
        </p:spPr>
      </p:sp>
      <p:sp>
        <p:nvSpPr>
          <p:cNvPr id="7" name="Text 5"/>
          <p:cNvSpPr/>
          <p:nvPr/>
        </p:nvSpPr>
        <p:spPr>
          <a:xfrm>
            <a:off x="9715500" y="1778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RERANKER 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715500" y="2159000"/>
            <a:ext cx="546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cross-encoder/ms-marco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715500" y="2730500"/>
            <a:ext cx="546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Pre-trained on MS MARCO dataset for passage re-ranking. Scores query-document pairs with full cross-attention, capturing subtle relevance signals that initial retrieval misses.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4889500"/>
            <a:ext cx="7048500" cy="3238500"/>
          </a:xfrm>
          <a:prstGeom prst="rect">
            <a:avLst/>
          </a:prstGeom>
          <a:solidFill>
            <a:srgbClr val="1E1E28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4889500"/>
            <a:ext cx="50800" cy="3238500"/>
          </a:xfrm>
          <a:prstGeom prst="rect">
            <a:avLst/>
          </a:prstGeom>
          <a:solidFill>
            <a:srgbClr val="C0505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9500" y="5080000"/>
            <a:ext cx="6413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BM25 Dilution Problem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79500" y="5562600"/>
            <a:ext cx="6413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BM25 ranks chunks by keyword frequency, so keyword-heavy but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contextually irrelevant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chunks can score highly.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a chunk mentioning "AUC" repeatedly but for the 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i="1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wrong study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can outrank a more relevant but less keyword-dense passage.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445500" y="4889500"/>
            <a:ext cx="7048500" cy="3238500"/>
          </a:xfrm>
          <a:prstGeom prst="rect">
            <a:avLst/>
          </a:prstGeom>
          <a:solidFill>
            <a:srgbClr val="1E1E28"/>
          </a:solidFill>
          <a:ln/>
        </p:spPr>
      </p:sp>
      <p:sp>
        <p:nvSpPr>
          <p:cNvPr id="15" name="Shape 13"/>
          <p:cNvSpPr/>
          <p:nvPr/>
        </p:nvSpPr>
        <p:spPr>
          <a:xfrm>
            <a:off x="8445500" y="4889500"/>
            <a:ext cx="50800" cy="3238500"/>
          </a:xfrm>
          <a:prstGeom prst="rect">
            <a:avLst/>
          </a:prstGeom>
          <a:solidFill>
            <a:srgbClr val="E8A24F"/>
          </a:solidFill>
          <a:ln/>
        </p:spPr>
      </p:sp>
      <p:sp>
        <p:nvSpPr>
          <p:cNvPr id="16" name="Text 14"/>
          <p:cNvSpPr/>
          <p:nvPr/>
        </p:nvSpPr>
        <p:spPr>
          <a:xfrm>
            <a:off x="8763000" y="5080000"/>
            <a:ext cx="6413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Precision Reranking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763000" y="5562600"/>
            <a:ext cx="6413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cross-encoder scores each query-chunk pair with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cross-attention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understanding the nuanced relationship between the query and candidate.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for multi-entity queries: "compare AUCs of Study X vs Study Y" — the reranker ensures both studies' contexts surface correctly.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E8A24F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Persistence &amp; Auditability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2A2A36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87500"/>
            <a:ext cx="812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Raw chunks and parsed metadata are stored in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MongoDB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via Motor/AsyncIO, enabling full auditability and rapid iteration.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retrieval decision is traceable back to its source document, chunk, and parsing configuration.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398000" y="1587500"/>
            <a:ext cx="6096000" cy="2540000"/>
          </a:xfrm>
          <a:prstGeom prst="rect">
            <a:avLst/>
          </a:prstGeom>
          <a:solidFill>
            <a:srgbClr val="1E1E28"/>
          </a:solidFill>
          <a:ln/>
        </p:spPr>
      </p:sp>
      <p:sp>
        <p:nvSpPr>
          <p:cNvPr id="7" name="Text 5"/>
          <p:cNvSpPr/>
          <p:nvPr/>
        </p:nvSpPr>
        <p:spPr>
          <a:xfrm>
            <a:off x="9715500" y="1778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715500" y="222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55600" y="142935"/>
                </a:moveTo>
                <a:cubicBezTo>
                  <a:pt x="343853" y="149741"/>
                  <a:pt x="330359" y="155228"/>
                  <a:pt x="316309" y="159603"/>
                </a:cubicBezTo>
                <a:cubicBezTo>
                  <a:pt x="279003" y="171271"/>
                  <a:pt x="230029" y="177800"/>
                  <a:pt x="177800" y="177800"/>
                </a:cubicBezTo>
                <a:cubicBezTo>
                  <a:pt x="125571" y="177800"/>
                  <a:pt x="76518" y="171202"/>
                  <a:pt x="39291" y="159603"/>
                </a:cubicBezTo>
                <a:cubicBezTo>
                  <a:pt x="25321" y="155228"/>
                  <a:pt x="11747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79613" y="255587"/>
                  <a:pt x="177800" y="255587"/>
                </a:cubicBezTo>
                <a:cubicBezTo>
                  <a:pt x="275987" y="255587"/>
                  <a:pt x="355600" y="230723"/>
                  <a:pt x="355600" y="200025"/>
                </a:cubicBezTo>
                <a:lnTo>
                  <a:pt x="355600" y="142935"/>
                </a:lnTo>
                <a:close/>
                <a:moveTo>
                  <a:pt x="355600" y="88900"/>
                </a:moveTo>
                <a:lnTo>
                  <a:pt x="355600" y="55563"/>
                </a:lnTo>
                <a:cubicBezTo>
                  <a:pt x="355600" y="24864"/>
                  <a:pt x="275987" y="0"/>
                  <a:pt x="177800" y="0"/>
                </a:cubicBezTo>
                <a:cubicBezTo>
                  <a:pt x="79613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79613" y="144463"/>
                  <a:pt x="177800" y="144463"/>
                </a:cubicBezTo>
                <a:cubicBezTo>
                  <a:pt x="275987" y="144463"/>
                  <a:pt x="355600" y="119598"/>
                  <a:pt x="355600" y="88900"/>
                </a:cubicBezTo>
                <a:close/>
                <a:moveTo>
                  <a:pt x="316309" y="270728"/>
                </a:moveTo>
                <a:cubicBezTo>
                  <a:pt x="279083" y="282327"/>
                  <a:pt x="230108" y="288925"/>
                  <a:pt x="177800" y="288925"/>
                </a:cubicBezTo>
                <a:cubicBezTo>
                  <a:pt x="125492" y="288925"/>
                  <a:pt x="76518" y="282327"/>
                  <a:pt x="39291" y="270728"/>
                </a:cubicBezTo>
                <a:cubicBezTo>
                  <a:pt x="25321" y="266353"/>
                  <a:pt x="11747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79613" y="355600"/>
                  <a:pt x="177800" y="355600"/>
                </a:cubicBezTo>
                <a:cubicBezTo>
                  <a:pt x="275987" y="355600"/>
                  <a:pt x="355600" y="330736"/>
                  <a:pt x="355600" y="300038"/>
                </a:cubicBezTo>
                <a:lnTo>
                  <a:pt x="355600" y="254060"/>
                </a:lnTo>
                <a:cubicBezTo>
                  <a:pt x="343853" y="260866"/>
                  <a:pt x="330359" y="266353"/>
                  <a:pt x="316309" y="270728"/>
                </a:cubicBezTo>
                <a:close/>
              </a:path>
            </a:pathLst>
          </a:custGeom>
          <a:solidFill>
            <a:srgbClr val="E8A24F"/>
          </a:solidFill>
          <a:ln/>
        </p:spPr>
      </p:sp>
      <p:sp>
        <p:nvSpPr>
          <p:cNvPr id="9" name="Text 7"/>
          <p:cNvSpPr/>
          <p:nvPr/>
        </p:nvSpPr>
        <p:spPr>
          <a:xfrm>
            <a:off x="10223500" y="2222500"/>
            <a:ext cx="495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MongoDB + Motor (AsyncIO)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715500" y="2730500"/>
            <a:ext cx="546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Async MongoDB driver ensures non-blocking I/O operations, maintaining high concurrency under load.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4572000"/>
            <a:ext cx="4699000" cy="3302000"/>
          </a:xfrm>
          <a:prstGeom prst="rect">
            <a:avLst/>
          </a:prstGeom>
          <a:solidFill>
            <a:srgbClr val="1E1E28"/>
          </a:solidFill>
          <a:ln/>
        </p:spPr>
      </p:sp>
      <p:sp>
        <p:nvSpPr>
          <p:cNvPr id="12" name="Shape 10"/>
          <p:cNvSpPr/>
          <p:nvPr/>
        </p:nvSpPr>
        <p:spPr>
          <a:xfrm>
            <a:off x="1079500" y="482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88369" y="22225"/>
                </a:moveTo>
                <a:lnTo>
                  <a:pt x="296333" y="22225"/>
                </a:lnTo>
                <a:cubicBezTo>
                  <a:pt x="329023" y="22225"/>
                  <a:pt x="355600" y="42158"/>
                  <a:pt x="355600" y="66675"/>
                </a:cubicBezTo>
                <a:lnTo>
                  <a:pt x="355600" y="311150"/>
                </a:lnTo>
                <a:cubicBezTo>
                  <a:pt x="355600" y="335667"/>
                  <a:pt x="329023" y="355600"/>
                  <a:pt x="296333" y="355600"/>
                </a:cubicBezTo>
                <a:lnTo>
                  <a:pt x="59267" y="355600"/>
                </a:lnTo>
                <a:cubicBezTo>
                  <a:pt x="26577" y="355600"/>
                  <a:pt x="0" y="335667"/>
                  <a:pt x="0" y="311150"/>
                </a:cubicBezTo>
                <a:lnTo>
                  <a:pt x="0" y="66675"/>
                </a:lnTo>
                <a:cubicBezTo>
                  <a:pt x="0" y="42158"/>
                  <a:pt x="26577" y="22225"/>
                  <a:pt x="59267" y="22225"/>
                </a:cubicBezTo>
                <a:lnTo>
                  <a:pt x="67231" y="22225"/>
                </a:lnTo>
                <a:cubicBezTo>
                  <a:pt x="77417" y="8959"/>
                  <a:pt x="96586" y="0"/>
                  <a:pt x="118533" y="0"/>
                </a:cubicBezTo>
                <a:lnTo>
                  <a:pt x="237067" y="0"/>
                </a:lnTo>
                <a:cubicBezTo>
                  <a:pt x="259014" y="0"/>
                  <a:pt x="278183" y="8959"/>
                  <a:pt x="288369" y="22225"/>
                </a:cubicBezTo>
                <a:close/>
                <a:moveTo>
                  <a:pt x="229658" y="77788"/>
                </a:moveTo>
                <a:cubicBezTo>
                  <a:pt x="241975" y="77788"/>
                  <a:pt x="251883" y="70356"/>
                  <a:pt x="251883" y="61119"/>
                </a:cubicBezTo>
                <a:cubicBezTo>
                  <a:pt x="251883" y="51881"/>
                  <a:pt x="241975" y="44450"/>
                  <a:pt x="229658" y="44450"/>
                </a:cubicBezTo>
                <a:lnTo>
                  <a:pt x="125942" y="44450"/>
                </a:lnTo>
                <a:cubicBezTo>
                  <a:pt x="113625" y="44450"/>
                  <a:pt x="103717" y="51881"/>
                  <a:pt x="103717" y="61119"/>
                </a:cubicBezTo>
                <a:cubicBezTo>
                  <a:pt x="103717" y="70356"/>
                  <a:pt x="113625" y="77788"/>
                  <a:pt x="125942" y="77788"/>
                </a:cubicBezTo>
                <a:lnTo>
                  <a:pt x="229658" y="77788"/>
                </a:lnTo>
                <a:close/>
                <a:moveTo>
                  <a:pt x="255958" y="181064"/>
                </a:moveTo>
                <a:cubicBezTo>
                  <a:pt x="262440" y="173286"/>
                  <a:pt x="259292" y="163006"/>
                  <a:pt x="248920" y="158075"/>
                </a:cubicBezTo>
                <a:cubicBezTo>
                  <a:pt x="238548" y="153144"/>
                  <a:pt x="224843" y="155575"/>
                  <a:pt x="218268" y="163354"/>
                </a:cubicBezTo>
                <a:lnTo>
                  <a:pt x="161409" y="231626"/>
                </a:lnTo>
                <a:lnTo>
                  <a:pt x="136406" y="206623"/>
                </a:lnTo>
                <a:cubicBezTo>
                  <a:pt x="128998" y="199261"/>
                  <a:pt x="115107" y="197733"/>
                  <a:pt x="105291" y="203289"/>
                </a:cubicBezTo>
                <a:cubicBezTo>
                  <a:pt x="95475" y="208846"/>
                  <a:pt x="93438" y="219264"/>
                  <a:pt x="100846" y="226626"/>
                </a:cubicBezTo>
                <a:lnTo>
                  <a:pt x="145296" y="271076"/>
                </a:lnTo>
                <a:cubicBezTo>
                  <a:pt x="149648" y="275451"/>
                  <a:pt x="156686" y="277951"/>
                  <a:pt x="164002" y="277743"/>
                </a:cubicBezTo>
                <a:cubicBezTo>
                  <a:pt x="171318" y="277535"/>
                  <a:pt x="177985" y="274618"/>
                  <a:pt x="181875" y="269895"/>
                </a:cubicBezTo>
                <a:lnTo>
                  <a:pt x="255958" y="180995"/>
                </a:lnTo>
                <a:close/>
              </a:path>
            </a:pathLst>
          </a:custGeom>
          <a:solidFill>
            <a:srgbClr val="E8A24F"/>
          </a:solidFill>
          <a:ln/>
        </p:spPr>
      </p:sp>
      <p:sp>
        <p:nvSpPr>
          <p:cNvPr id="13" name="Text 11"/>
          <p:cNvSpPr/>
          <p:nvPr/>
        </p:nvSpPr>
        <p:spPr>
          <a:xfrm>
            <a:off x="1079500" y="5334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Audit Trail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79500" y="5816600"/>
            <a:ext cx="406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response can be traced back to the exact chunks retrieved, their source documents, and the parsing parameters used. Essential for medical compliance.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78500" y="4572000"/>
            <a:ext cx="4699000" cy="3302000"/>
          </a:xfrm>
          <a:prstGeom prst="rect">
            <a:avLst/>
          </a:prstGeom>
          <a:solidFill>
            <a:srgbClr val="1E1E28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6000" y="482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44450"/>
                </a:moveTo>
                <a:cubicBezTo>
                  <a:pt x="9932" y="44450"/>
                  <a:pt x="0" y="54382"/>
                  <a:pt x="0" y="66675"/>
                </a:cubicBezTo>
                <a:cubicBezTo>
                  <a:pt x="0" y="78968"/>
                  <a:pt x="9932" y="88900"/>
                  <a:pt x="22225" y="88900"/>
                </a:cubicBezTo>
                <a:lnTo>
                  <a:pt x="82441" y="88900"/>
                </a:lnTo>
                <a:cubicBezTo>
                  <a:pt x="90984" y="108555"/>
                  <a:pt x="110569" y="122238"/>
                  <a:pt x="133350" y="122238"/>
                </a:cubicBezTo>
                <a:cubicBezTo>
                  <a:pt x="156131" y="122238"/>
                  <a:pt x="175716" y="108555"/>
                  <a:pt x="184259" y="88900"/>
                </a:cubicBezTo>
                <a:lnTo>
                  <a:pt x="333375" y="88900"/>
                </a:lnTo>
                <a:cubicBezTo>
                  <a:pt x="345668" y="88900"/>
                  <a:pt x="355600" y="78968"/>
                  <a:pt x="355600" y="66675"/>
                </a:cubicBezTo>
                <a:cubicBezTo>
                  <a:pt x="355600" y="54382"/>
                  <a:pt x="345668" y="44450"/>
                  <a:pt x="333375" y="44450"/>
                </a:cubicBezTo>
                <a:lnTo>
                  <a:pt x="184259" y="44450"/>
                </a:lnTo>
                <a:cubicBezTo>
                  <a:pt x="175716" y="24795"/>
                  <a:pt x="156131" y="11112"/>
                  <a:pt x="133350" y="11112"/>
                </a:cubicBezTo>
                <a:cubicBezTo>
                  <a:pt x="110569" y="11112"/>
                  <a:pt x="90984" y="24795"/>
                  <a:pt x="82441" y="44450"/>
                </a:cubicBezTo>
                <a:lnTo>
                  <a:pt x="22225" y="44450"/>
                </a:lnTo>
                <a:close/>
                <a:moveTo>
                  <a:pt x="22225" y="155575"/>
                </a:moveTo>
                <a:cubicBezTo>
                  <a:pt x="9932" y="155575"/>
                  <a:pt x="0" y="165507"/>
                  <a:pt x="0" y="177800"/>
                </a:cubicBezTo>
                <a:cubicBezTo>
                  <a:pt x="0" y="190093"/>
                  <a:pt x="9932" y="200025"/>
                  <a:pt x="22225" y="200025"/>
                </a:cubicBezTo>
                <a:lnTo>
                  <a:pt x="193566" y="200025"/>
                </a:lnTo>
                <a:cubicBezTo>
                  <a:pt x="202109" y="219680"/>
                  <a:pt x="221694" y="233363"/>
                  <a:pt x="244475" y="233363"/>
                </a:cubicBezTo>
                <a:cubicBezTo>
                  <a:pt x="267256" y="233363"/>
                  <a:pt x="286841" y="219680"/>
                  <a:pt x="295384" y="200025"/>
                </a:cubicBezTo>
                <a:lnTo>
                  <a:pt x="333375" y="200025"/>
                </a:lnTo>
                <a:cubicBezTo>
                  <a:pt x="345668" y="200025"/>
                  <a:pt x="355600" y="190093"/>
                  <a:pt x="355600" y="177800"/>
                </a:cubicBezTo>
                <a:cubicBezTo>
                  <a:pt x="355600" y="165507"/>
                  <a:pt x="345668" y="155575"/>
                  <a:pt x="333375" y="155575"/>
                </a:cubicBezTo>
                <a:lnTo>
                  <a:pt x="295384" y="155575"/>
                </a:lnTo>
                <a:cubicBezTo>
                  <a:pt x="286841" y="135920"/>
                  <a:pt x="267256" y="122238"/>
                  <a:pt x="244475" y="122238"/>
                </a:cubicBezTo>
                <a:cubicBezTo>
                  <a:pt x="221694" y="122238"/>
                  <a:pt x="202109" y="135920"/>
                  <a:pt x="193566" y="155575"/>
                </a:cubicBezTo>
                <a:lnTo>
                  <a:pt x="22225" y="155575"/>
                </a:lnTo>
                <a:close/>
                <a:moveTo>
                  <a:pt x="22225" y="266700"/>
                </a:moveTo>
                <a:cubicBezTo>
                  <a:pt x="9932" y="266700"/>
                  <a:pt x="0" y="276632"/>
                  <a:pt x="0" y="288925"/>
                </a:cubicBezTo>
                <a:cubicBezTo>
                  <a:pt x="0" y="301218"/>
                  <a:pt x="9932" y="311150"/>
                  <a:pt x="22225" y="311150"/>
                </a:cubicBezTo>
                <a:lnTo>
                  <a:pt x="60216" y="311150"/>
                </a:lnTo>
                <a:cubicBezTo>
                  <a:pt x="68759" y="330805"/>
                  <a:pt x="88344" y="344488"/>
                  <a:pt x="111125" y="344488"/>
                </a:cubicBezTo>
                <a:cubicBezTo>
                  <a:pt x="133906" y="344488"/>
                  <a:pt x="153491" y="330805"/>
                  <a:pt x="162034" y="311150"/>
                </a:cubicBezTo>
                <a:lnTo>
                  <a:pt x="333375" y="311150"/>
                </a:lnTo>
                <a:cubicBezTo>
                  <a:pt x="345668" y="311150"/>
                  <a:pt x="355600" y="301218"/>
                  <a:pt x="355600" y="288925"/>
                </a:cubicBezTo>
                <a:cubicBezTo>
                  <a:pt x="355600" y="276632"/>
                  <a:pt x="345668" y="266700"/>
                  <a:pt x="333375" y="266700"/>
                </a:cubicBezTo>
                <a:lnTo>
                  <a:pt x="162034" y="266700"/>
                </a:lnTo>
                <a:cubicBezTo>
                  <a:pt x="153491" y="247045"/>
                  <a:pt x="133906" y="233363"/>
                  <a:pt x="111125" y="233363"/>
                </a:cubicBezTo>
                <a:cubicBezTo>
                  <a:pt x="88344" y="233363"/>
                  <a:pt x="68759" y="247045"/>
                  <a:pt x="60216" y="266700"/>
                </a:cubicBezTo>
                <a:lnTo>
                  <a:pt x="22225" y="266700"/>
                </a:lnTo>
                <a:close/>
              </a:path>
            </a:pathLst>
          </a:custGeom>
          <a:solidFill>
            <a:srgbClr val="E8A24F"/>
          </a:solidFill>
          <a:ln/>
        </p:spPr>
      </p:sp>
      <p:sp>
        <p:nvSpPr>
          <p:cNvPr id="17" name="Text 15"/>
          <p:cNvSpPr/>
          <p:nvPr/>
        </p:nvSpPr>
        <p:spPr>
          <a:xfrm>
            <a:off x="6096000" y="5334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Rapid Retrieval Tuning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096000" y="5816600"/>
            <a:ext cx="406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Stored chunks enable A/B testing of different chunking strategies, search parameters, and reranking configurations without re-parsing source documents.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795000" y="4572000"/>
            <a:ext cx="4699000" cy="3302000"/>
          </a:xfrm>
          <a:prstGeom prst="rect">
            <a:avLst/>
          </a:prstGeom>
          <a:solidFill>
            <a:srgbClr val="1E1E2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112500" y="482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68923" y="-6876"/>
                </a:moveTo>
                <a:cubicBezTo>
                  <a:pt x="278368" y="-903"/>
                  <a:pt x="281861" y="9932"/>
                  <a:pt x="277574" y="19377"/>
                </a:cubicBezTo>
                <a:lnTo>
                  <a:pt x="215344" y="155575"/>
                </a:lnTo>
                <a:lnTo>
                  <a:pt x="330200" y="155575"/>
                </a:lnTo>
                <a:cubicBezTo>
                  <a:pt x="340916" y="155575"/>
                  <a:pt x="350441" y="161409"/>
                  <a:pt x="354092" y="170230"/>
                </a:cubicBezTo>
                <a:cubicBezTo>
                  <a:pt x="357743" y="179050"/>
                  <a:pt x="354648" y="188913"/>
                  <a:pt x="346472" y="194885"/>
                </a:cubicBezTo>
                <a:lnTo>
                  <a:pt x="117872" y="361573"/>
                </a:lnTo>
                <a:cubicBezTo>
                  <a:pt x="108903" y="368102"/>
                  <a:pt x="96123" y="368449"/>
                  <a:pt x="86678" y="362476"/>
                </a:cubicBezTo>
                <a:cubicBezTo>
                  <a:pt x="77232" y="356503"/>
                  <a:pt x="73739" y="345668"/>
                  <a:pt x="78026" y="336223"/>
                </a:cubicBezTo>
                <a:lnTo>
                  <a:pt x="140256" y="200025"/>
                </a:lnTo>
                <a:lnTo>
                  <a:pt x="25400" y="200025"/>
                </a:lnTo>
                <a:cubicBezTo>
                  <a:pt x="14684" y="200025"/>
                  <a:pt x="5159" y="194191"/>
                  <a:pt x="1508" y="185370"/>
                </a:cubicBezTo>
                <a:cubicBezTo>
                  <a:pt x="-2143" y="176550"/>
                  <a:pt x="952" y="166688"/>
                  <a:pt x="9128" y="160715"/>
                </a:cubicBezTo>
                <a:lnTo>
                  <a:pt x="237728" y="-5973"/>
                </a:lnTo>
                <a:cubicBezTo>
                  <a:pt x="246698" y="-12502"/>
                  <a:pt x="259477" y="-12849"/>
                  <a:pt x="268923" y="-6876"/>
                </a:cubicBezTo>
                <a:close/>
              </a:path>
            </a:pathLst>
          </a:custGeom>
          <a:solidFill>
            <a:srgbClr val="E8A24F"/>
          </a:solidFill>
          <a:ln/>
        </p:spPr>
      </p:sp>
      <p:sp>
        <p:nvSpPr>
          <p:cNvPr id="21" name="Text 19"/>
          <p:cNvSpPr/>
          <p:nvPr/>
        </p:nvSpPr>
        <p:spPr>
          <a:xfrm>
            <a:off x="11112500" y="5334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Async Performance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112500" y="5816600"/>
            <a:ext cx="406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Motor's async operations ensure database calls never block the event loop, maintaining responsiveness under concurrent load from multiple users.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lqybweg4voaw/mnt/agents/output/sehatek-rag/images/10_5_400_Software_Architect_Stock_Illustrations.png">    </p:cNvPr>
          <p:cNvPicPr>
            <a:picLocks noChangeAspect="1"/>
          </p:cNvPicPr>
          <p:nvPr/>
        </p:nvPicPr>
        <p:blipFill>
          <a:blip r:embed="rId1"/>
          <a:srcRect l="36" r="36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D0D12">
                  <a:alpha val="38000"/>
                </a:srgbClr>
              </a:gs>
              <a:gs pos="50000">
                <a:srgbClr val="0D0D12">
                  <a:alpha val="75000"/>
                </a:srgbClr>
              </a:gs>
              <a:gs pos="100000">
                <a:srgbClr val="0D0D12">
                  <a:alpha val="94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286000"/>
            <a:ext cx="381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0" b="1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Shape 2"/>
          <p:cNvSpPr/>
          <p:nvPr/>
        </p:nvSpPr>
        <p:spPr>
          <a:xfrm>
            <a:off x="762000" y="4064000"/>
            <a:ext cx="762000" cy="38100"/>
          </a:xfrm>
          <a:prstGeom prst="rect">
            <a:avLst/>
          </a:prstGeom>
          <a:solidFill>
            <a:srgbClr val="E8A24F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318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spc="200" kern="0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62000" y="51435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async Python backend with specialized ML infrastructure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E8A24F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2A2A36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4699000" cy="3175000"/>
          </a:xfrm>
          <a:prstGeom prst="rect">
            <a:avLst/>
          </a:prstGeom>
          <a:solidFill>
            <a:srgbClr val="1E1E28"/>
          </a:solidFill>
          <a:ln/>
        </p:spPr>
      </p:sp>
      <p:sp>
        <p:nvSpPr>
          <p:cNvPr id="6" name="Shape 4"/>
          <p:cNvSpPr/>
          <p:nvPr/>
        </p:nvSpPr>
        <p:spPr>
          <a:xfrm>
            <a:off x="1079500" y="1841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50800" y="22225"/>
                </a:moveTo>
                <a:cubicBezTo>
                  <a:pt x="22781" y="22225"/>
                  <a:pt x="0" y="42158"/>
                  <a:pt x="0" y="66675"/>
                </a:cubicBezTo>
                <a:lnTo>
                  <a:pt x="0" y="111125"/>
                </a:lnTo>
                <a:cubicBezTo>
                  <a:pt x="0" y="135642"/>
                  <a:pt x="22781" y="155575"/>
                  <a:pt x="50800" y="155575"/>
                </a:cubicBezTo>
                <a:lnTo>
                  <a:pt x="304800" y="155575"/>
                </a:lnTo>
                <a:cubicBezTo>
                  <a:pt x="332819" y="155575"/>
                  <a:pt x="355600" y="135642"/>
                  <a:pt x="355600" y="111125"/>
                </a:cubicBezTo>
                <a:lnTo>
                  <a:pt x="355600" y="66675"/>
                </a:lnTo>
                <a:cubicBezTo>
                  <a:pt x="355600" y="42158"/>
                  <a:pt x="332819" y="22225"/>
                  <a:pt x="304800" y="22225"/>
                </a:cubicBezTo>
                <a:lnTo>
                  <a:pt x="50800" y="22225"/>
                </a:lnTo>
                <a:close/>
                <a:moveTo>
                  <a:pt x="222250" y="72231"/>
                </a:moveTo>
                <a:cubicBezTo>
                  <a:pt x="232764" y="72231"/>
                  <a:pt x="241300" y="79700"/>
                  <a:pt x="241300" y="88900"/>
                </a:cubicBezTo>
                <a:cubicBezTo>
                  <a:pt x="241300" y="98100"/>
                  <a:pt x="232764" y="105569"/>
                  <a:pt x="222250" y="105569"/>
                </a:cubicBezTo>
                <a:cubicBezTo>
                  <a:pt x="211736" y="105569"/>
                  <a:pt x="203200" y="98100"/>
                  <a:pt x="203200" y="88900"/>
                </a:cubicBezTo>
                <a:cubicBezTo>
                  <a:pt x="203200" y="79700"/>
                  <a:pt x="211736" y="72231"/>
                  <a:pt x="222250" y="72231"/>
                </a:cubicBezTo>
                <a:close/>
                <a:moveTo>
                  <a:pt x="266700" y="88900"/>
                </a:moveTo>
                <a:cubicBezTo>
                  <a:pt x="266700" y="79700"/>
                  <a:pt x="275236" y="72231"/>
                  <a:pt x="285750" y="72231"/>
                </a:cubicBezTo>
                <a:cubicBezTo>
                  <a:pt x="296264" y="72231"/>
                  <a:pt x="304800" y="79700"/>
                  <a:pt x="304800" y="88900"/>
                </a:cubicBezTo>
                <a:cubicBezTo>
                  <a:pt x="304800" y="98100"/>
                  <a:pt x="296264" y="105569"/>
                  <a:pt x="285750" y="105569"/>
                </a:cubicBezTo>
                <a:cubicBezTo>
                  <a:pt x="275236" y="105569"/>
                  <a:pt x="266700" y="98100"/>
                  <a:pt x="266700" y="88900"/>
                </a:cubicBezTo>
                <a:close/>
                <a:moveTo>
                  <a:pt x="50800" y="200025"/>
                </a:moveTo>
                <a:cubicBezTo>
                  <a:pt x="22781" y="200025"/>
                  <a:pt x="0" y="219958"/>
                  <a:pt x="0" y="244475"/>
                </a:cubicBezTo>
                <a:lnTo>
                  <a:pt x="0" y="288925"/>
                </a:lnTo>
                <a:cubicBezTo>
                  <a:pt x="0" y="313442"/>
                  <a:pt x="22781" y="333375"/>
                  <a:pt x="50800" y="333375"/>
                </a:cubicBezTo>
                <a:lnTo>
                  <a:pt x="304800" y="333375"/>
                </a:lnTo>
                <a:cubicBezTo>
                  <a:pt x="332819" y="333375"/>
                  <a:pt x="355600" y="313442"/>
                  <a:pt x="355600" y="288925"/>
                </a:cubicBezTo>
                <a:lnTo>
                  <a:pt x="355600" y="244475"/>
                </a:lnTo>
                <a:cubicBezTo>
                  <a:pt x="355600" y="219958"/>
                  <a:pt x="332819" y="200025"/>
                  <a:pt x="304800" y="200025"/>
                </a:cubicBezTo>
                <a:lnTo>
                  <a:pt x="50800" y="200025"/>
                </a:lnTo>
                <a:close/>
                <a:moveTo>
                  <a:pt x="222250" y="250031"/>
                </a:moveTo>
                <a:cubicBezTo>
                  <a:pt x="232764" y="250031"/>
                  <a:pt x="241300" y="257500"/>
                  <a:pt x="241300" y="266700"/>
                </a:cubicBezTo>
                <a:cubicBezTo>
                  <a:pt x="241300" y="275900"/>
                  <a:pt x="232764" y="283369"/>
                  <a:pt x="222250" y="283369"/>
                </a:cubicBezTo>
                <a:cubicBezTo>
                  <a:pt x="211736" y="283369"/>
                  <a:pt x="203200" y="275900"/>
                  <a:pt x="203200" y="266700"/>
                </a:cubicBezTo>
                <a:cubicBezTo>
                  <a:pt x="203200" y="257500"/>
                  <a:pt x="211736" y="250031"/>
                  <a:pt x="222250" y="250031"/>
                </a:cubicBezTo>
                <a:close/>
                <a:moveTo>
                  <a:pt x="266700" y="266700"/>
                </a:moveTo>
                <a:cubicBezTo>
                  <a:pt x="266700" y="257500"/>
                  <a:pt x="275236" y="250031"/>
                  <a:pt x="285750" y="250031"/>
                </a:cubicBezTo>
                <a:cubicBezTo>
                  <a:pt x="296264" y="250031"/>
                  <a:pt x="304800" y="257500"/>
                  <a:pt x="304800" y="266700"/>
                </a:cubicBezTo>
                <a:cubicBezTo>
                  <a:pt x="304800" y="275900"/>
                  <a:pt x="296264" y="283369"/>
                  <a:pt x="285750" y="283369"/>
                </a:cubicBezTo>
                <a:cubicBezTo>
                  <a:pt x="275236" y="283369"/>
                  <a:pt x="266700" y="275900"/>
                  <a:pt x="266700" y="266700"/>
                </a:cubicBezTo>
                <a:close/>
              </a:path>
            </a:pathLst>
          </a:custGeom>
          <a:solidFill>
            <a:srgbClr val="E8A24F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23241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Framework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9500" y="2794000"/>
            <a:ext cx="4064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FastAPI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(Python 3.13+)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Async-native, high-performance API framework with automatic OpenAPI documentation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78500" y="1587500"/>
            <a:ext cx="4699000" cy="3175000"/>
          </a:xfrm>
          <a:prstGeom prst="rect">
            <a:avLst/>
          </a:prstGeom>
          <a:solidFill>
            <a:srgbClr val="1E1E28"/>
          </a:solidFill>
          <a:ln/>
        </p:spPr>
      </p:sp>
      <p:sp>
        <p:nvSpPr>
          <p:cNvPr id="10" name="Shape 8"/>
          <p:cNvSpPr/>
          <p:nvPr/>
        </p:nvSpPr>
        <p:spPr>
          <a:xfrm>
            <a:off x="6096000" y="1841500"/>
            <a:ext cx="355600" cy="355600"/>
          </a:xfrm>
          <a:prstGeom prst="ellipse">
            <a:avLst/>
          </a:prstGeom>
          <a:solidFill>
            <a:srgbClr val="E8A24F"/>
          </a:solidFill>
          <a:ln/>
        </p:spPr>
      </p:sp>
      <p:sp>
        <p:nvSpPr>
          <p:cNvPr id="11" name="Text 9"/>
          <p:cNvSpPr/>
          <p:nvPr/>
        </p:nvSpPr>
        <p:spPr>
          <a:xfrm>
            <a:off x="6096000" y="23241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Vector Database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096000" y="2794000"/>
            <a:ext cx="4064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Qdrant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vector search with HNSW indexing, supports both dense and sparse vectors for maximum recall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795000" y="1587500"/>
            <a:ext cx="4699000" cy="3175000"/>
          </a:xfrm>
          <a:prstGeom prst="rect">
            <a:avLst/>
          </a:prstGeom>
          <a:solidFill>
            <a:srgbClr val="1E1E28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12500" y="1841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55600" y="142935"/>
                </a:moveTo>
                <a:cubicBezTo>
                  <a:pt x="343853" y="149741"/>
                  <a:pt x="330359" y="155228"/>
                  <a:pt x="316309" y="159603"/>
                </a:cubicBezTo>
                <a:cubicBezTo>
                  <a:pt x="279003" y="171271"/>
                  <a:pt x="230029" y="177800"/>
                  <a:pt x="177800" y="177800"/>
                </a:cubicBezTo>
                <a:cubicBezTo>
                  <a:pt x="125571" y="177800"/>
                  <a:pt x="76518" y="171202"/>
                  <a:pt x="39291" y="159603"/>
                </a:cubicBezTo>
                <a:cubicBezTo>
                  <a:pt x="25321" y="155228"/>
                  <a:pt x="11747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79613" y="255587"/>
                  <a:pt x="177800" y="255587"/>
                </a:cubicBezTo>
                <a:cubicBezTo>
                  <a:pt x="275987" y="255587"/>
                  <a:pt x="355600" y="230723"/>
                  <a:pt x="355600" y="200025"/>
                </a:cubicBezTo>
                <a:lnTo>
                  <a:pt x="355600" y="142935"/>
                </a:lnTo>
                <a:close/>
                <a:moveTo>
                  <a:pt x="355600" y="88900"/>
                </a:moveTo>
                <a:lnTo>
                  <a:pt x="355600" y="55563"/>
                </a:lnTo>
                <a:cubicBezTo>
                  <a:pt x="355600" y="24864"/>
                  <a:pt x="275987" y="0"/>
                  <a:pt x="177800" y="0"/>
                </a:cubicBezTo>
                <a:cubicBezTo>
                  <a:pt x="79613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79613" y="144463"/>
                  <a:pt x="177800" y="144463"/>
                </a:cubicBezTo>
                <a:cubicBezTo>
                  <a:pt x="275987" y="144463"/>
                  <a:pt x="355600" y="119598"/>
                  <a:pt x="355600" y="88900"/>
                </a:cubicBezTo>
                <a:close/>
                <a:moveTo>
                  <a:pt x="316309" y="270728"/>
                </a:moveTo>
                <a:cubicBezTo>
                  <a:pt x="279083" y="282327"/>
                  <a:pt x="230108" y="288925"/>
                  <a:pt x="177800" y="288925"/>
                </a:cubicBezTo>
                <a:cubicBezTo>
                  <a:pt x="125492" y="288925"/>
                  <a:pt x="76518" y="282327"/>
                  <a:pt x="39291" y="270728"/>
                </a:cubicBezTo>
                <a:cubicBezTo>
                  <a:pt x="25321" y="266353"/>
                  <a:pt x="11747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79613" y="355600"/>
                  <a:pt x="177800" y="355600"/>
                </a:cubicBezTo>
                <a:cubicBezTo>
                  <a:pt x="275987" y="355600"/>
                  <a:pt x="355600" y="330736"/>
                  <a:pt x="355600" y="300038"/>
                </a:cubicBezTo>
                <a:lnTo>
                  <a:pt x="355600" y="254060"/>
                </a:lnTo>
                <a:cubicBezTo>
                  <a:pt x="343853" y="260866"/>
                  <a:pt x="330359" y="266353"/>
                  <a:pt x="316309" y="270728"/>
                </a:cubicBezTo>
                <a:close/>
              </a:path>
            </a:pathLst>
          </a:custGeom>
          <a:solidFill>
            <a:srgbClr val="E8A24F"/>
          </a:solidFill>
          <a:ln/>
        </p:spPr>
      </p:sp>
      <p:sp>
        <p:nvSpPr>
          <p:cNvPr id="15" name="Text 13"/>
          <p:cNvSpPr/>
          <p:nvPr/>
        </p:nvSpPr>
        <p:spPr>
          <a:xfrm>
            <a:off x="11112500" y="23241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 Store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112500" y="2794000"/>
            <a:ext cx="4064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MongoDB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(Motor/AsyncIO)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Async document storage for raw chunks, parsed metadata, and audit trails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5080000"/>
            <a:ext cx="4699000" cy="3175000"/>
          </a:xfrm>
          <a:prstGeom prst="rect">
            <a:avLst/>
          </a:prstGeom>
          <a:solidFill>
            <a:srgbClr val="1E1E28"/>
          </a:solidFill>
          <a:ln/>
        </p:spPr>
      </p:sp>
      <p:sp>
        <p:nvSpPr>
          <p:cNvPr id="18" name="Shape 16"/>
          <p:cNvSpPr/>
          <p:nvPr/>
        </p:nvSpPr>
        <p:spPr>
          <a:xfrm>
            <a:off x="1079500" y="533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59267" y="0"/>
                </a:moveTo>
                <a:cubicBezTo>
                  <a:pt x="26577" y="0"/>
                  <a:pt x="0" y="19933"/>
                  <a:pt x="0" y="44450"/>
                </a:cubicBezTo>
                <a:lnTo>
                  <a:pt x="0" y="211138"/>
                </a:lnTo>
                <a:lnTo>
                  <a:pt x="168632" y="211138"/>
                </a:lnTo>
                <a:lnTo>
                  <a:pt x="139925" y="189607"/>
                </a:lnTo>
                <a:cubicBezTo>
                  <a:pt x="131220" y="183078"/>
                  <a:pt x="131220" y="172522"/>
                  <a:pt x="139925" y="166062"/>
                </a:cubicBezTo>
                <a:cubicBezTo>
                  <a:pt x="148630" y="159603"/>
                  <a:pt x="162706" y="159534"/>
                  <a:pt x="171318" y="166062"/>
                </a:cubicBezTo>
                <a:lnTo>
                  <a:pt x="237993" y="216069"/>
                </a:lnTo>
                <a:cubicBezTo>
                  <a:pt x="246698" y="222597"/>
                  <a:pt x="246698" y="233154"/>
                  <a:pt x="237993" y="239613"/>
                </a:cubicBezTo>
                <a:lnTo>
                  <a:pt x="171318" y="289620"/>
                </a:lnTo>
                <a:cubicBezTo>
                  <a:pt x="162613" y="296148"/>
                  <a:pt x="148537" y="296148"/>
                  <a:pt x="139925" y="289620"/>
                </a:cubicBezTo>
                <a:cubicBezTo>
                  <a:pt x="131313" y="283091"/>
                  <a:pt x="131220" y="272534"/>
                  <a:pt x="139925" y="266075"/>
                </a:cubicBezTo>
                <a:lnTo>
                  <a:pt x="168632" y="244544"/>
                </a:lnTo>
                <a:lnTo>
                  <a:pt x="0" y="244544"/>
                </a:lnTo>
                <a:lnTo>
                  <a:pt x="0" y="311219"/>
                </a:lnTo>
                <a:cubicBezTo>
                  <a:pt x="0" y="335736"/>
                  <a:pt x="26577" y="355669"/>
                  <a:pt x="59267" y="355669"/>
                </a:cubicBezTo>
                <a:lnTo>
                  <a:pt x="296333" y="355669"/>
                </a:lnTo>
                <a:cubicBezTo>
                  <a:pt x="329023" y="355669"/>
                  <a:pt x="355600" y="335736"/>
                  <a:pt x="355600" y="311219"/>
                </a:cubicBezTo>
                <a:lnTo>
                  <a:pt x="355600" y="118487"/>
                </a:lnTo>
                <a:cubicBezTo>
                  <a:pt x="355600" y="106680"/>
                  <a:pt x="349396" y="95359"/>
                  <a:pt x="338283" y="87025"/>
                </a:cubicBezTo>
                <a:lnTo>
                  <a:pt x="239567" y="12988"/>
                </a:lnTo>
                <a:cubicBezTo>
                  <a:pt x="228454" y="4653"/>
                  <a:pt x="213453" y="0"/>
                  <a:pt x="197710" y="0"/>
                </a:cubicBezTo>
                <a:lnTo>
                  <a:pt x="59267" y="0"/>
                </a:lnTo>
                <a:close/>
                <a:moveTo>
                  <a:pt x="301427" y="122238"/>
                </a:moveTo>
                <a:lnTo>
                  <a:pt x="214842" y="122238"/>
                </a:lnTo>
                <a:cubicBezTo>
                  <a:pt x="202525" y="122238"/>
                  <a:pt x="192617" y="114806"/>
                  <a:pt x="192617" y="105569"/>
                </a:cubicBezTo>
                <a:lnTo>
                  <a:pt x="192617" y="40630"/>
                </a:lnTo>
                <a:lnTo>
                  <a:pt x="301427" y="122238"/>
                </a:lnTo>
                <a:close/>
              </a:path>
            </a:pathLst>
          </a:custGeom>
          <a:solidFill>
            <a:srgbClr val="E8A24F"/>
          </a:solidFill>
          <a:ln/>
        </p:spPr>
      </p:sp>
      <p:sp>
        <p:nvSpPr>
          <p:cNvPr id="19" name="Text 17"/>
          <p:cNvSpPr/>
          <p:nvPr/>
        </p:nvSpPr>
        <p:spPr>
          <a:xfrm>
            <a:off x="1079500" y="58166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Parsing &amp; Ingestion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79500" y="6286500"/>
            <a:ext cx="4064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LlamaParse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PyMuPDF, Docling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Premium vision-based parsing with custom instructions for complex clinical tables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778500" y="5080000"/>
            <a:ext cx="4699000" cy="3175000"/>
          </a:xfrm>
          <a:prstGeom prst="rect">
            <a:avLst/>
          </a:prstGeom>
          <a:solidFill>
            <a:srgbClr val="1E1E28"/>
          </a:solidFill>
          <a:ln/>
        </p:spPr>
      </p:sp>
      <p:sp>
        <p:nvSpPr>
          <p:cNvPr id="22" name="Shape 20"/>
          <p:cNvSpPr/>
          <p:nvPr/>
        </p:nvSpPr>
        <p:spPr>
          <a:xfrm>
            <a:off x="6096000" y="533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98778" y="0"/>
                </a:moveTo>
                <a:cubicBezTo>
                  <a:pt x="109705" y="0"/>
                  <a:pt x="118533" y="9932"/>
                  <a:pt x="118533" y="22225"/>
                </a:cubicBezTo>
                <a:lnTo>
                  <a:pt x="118533" y="44450"/>
                </a:lnTo>
                <a:lnTo>
                  <a:pt x="197556" y="44450"/>
                </a:lnTo>
                <a:cubicBezTo>
                  <a:pt x="208483" y="44450"/>
                  <a:pt x="217311" y="54382"/>
                  <a:pt x="217311" y="66675"/>
                </a:cubicBezTo>
                <a:cubicBezTo>
                  <a:pt x="217311" y="78968"/>
                  <a:pt x="208483" y="88900"/>
                  <a:pt x="197556" y="88900"/>
                </a:cubicBezTo>
                <a:lnTo>
                  <a:pt x="191629" y="88900"/>
                </a:lnTo>
                <a:lnTo>
                  <a:pt x="186443" y="104944"/>
                </a:lnTo>
                <a:cubicBezTo>
                  <a:pt x="176318" y="136336"/>
                  <a:pt x="161070" y="165021"/>
                  <a:pt x="141870" y="189676"/>
                </a:cubicBezTo>
                <a:cubicBezTo>
                  <a:pt x="150636" y="195788"/>
                  <a:pt x="159773" y="201206"/>
                  <a:pt x="169280" y="205998"/>
                </a:cubicBezTo>
                <a:lnTo>
                  <a:pt x="200395" y="221555"/>
                </a:lnTo>
                <a:lnTo>
                  <a:pt x="238795" y="124321"/>
                </a:lnTo>
                <a:cubicBezTo>
                  <a:pt x="241944" y="116265"/>
                  <a:pt x="249043" y="111125"/>
                  <a:pt x="256822" y="111125"/>
                </a:cubicBezTo>
                <a:cubicBezTo>
                  <a:pt x="264601" y="111125"/>
                  <a:pt x="271701" y="116265"/>
                  <a:pt x="274849" y="124321"/>
                </a:cubicBezTo>
                <a:lnTo>
                  <a:pt x="353871" y="324346"/>
                </a:lnTo>
                <a:cubicBezTo>
                  <a:pt x="358316" y="335598"/>
                  <a:pt x="353810" y="348724"/>
                  <a:pt x="343870" y="353655"/>
                </a:cubicBezTo>
                <a:cubicBezTo>
                  <a:pt x="333931" y="358586"/>
                  <a:pt x="322201" y="353586"/>
                  <a:pt x="317817" y="342404"/>
                </a:cubicBezTo>
                <a:lnTo>
                  <a:pt x="305470" y="311150"/>
                </a:lnTo>
                <a:lnTo>
                  <a:pt x="208236" y="311150"/>
                </a:lnTo>
                <a:lnTo>
                  <a:pt x="195889" y="342404"/>
                </a:lnTo>
                <a:cubicBezTo>
                  <a:pt x="191444" y="353655"/>
                  <a:pt x="179776" y="358656"/>
                  <a:pt x="169836" y="353655"/>
                </a:cubicBezTo>
                <a:cubicBezTo>
                  <a:pt x="159897" y="348655"/>
                  <a:pt x="155390" y="335528"/>
                  <a:pt x="159835" y="324346"/>
                </a:cubicBezTo>
                <a:lnTo>
                  <a:pt x="184406" y="262186"/>
                </a:lnTo>
                <a:lnTo>
                  <a:pt x="153291" y="246628"/>
                </a:lnTo>
                <a:cubicBezTo>
                  <a:pt x="139091" y="239544"/>
                  <a:pt x="125510" y="231071"/>
                  <a:pt x="112668" y="221347"/>
                </a:cubicBezTo>
                <a:cubicBezTo>
                  <a:pt x="99519" y="233293"/>
                  <a:pt x="85134" y="243711"/>
                  <a:pt x="69762" y="252393"/>
                </a:cubicBezTo>
                <a:lnTo>
                  <a:pt x="48339" y="264339"/>
                </a:lnTo>
                <a:cubicBezTo>
                  <a:pt x="38585" y="269825"/>
                  <a:pt x="26732" y="265380"/>
                  <a:pt x="21855" y="254407"/>
                </a:cubicBezTo>
                <a:cubicBezTo>
                  <a:pt x="16977" y="243433"/>
                  <a:pt x="20929" y="230098"/>
                  <a:pt x="30683" y="224611"/>
                </a:cubicBezTo>
                <a:lnTo>
                  <a:pt x="51982" y="212596"/>
                </a:lnTo>
                <a:cubicBezTo>
                  <a:pt x="62045" y="206901"/>
                  <a:pt x="71614" y="200303"/>
                  <a:pt x="80627" y="192941"/>
                </a:cubicBezTo>
                <a:cubicBezTo>
                  <a:pt x="72108" y="184120"/>
                  <a:pt x="64082" y="174605"/>
                  <a:pt x="56612" y="164534"/>
                </a:cubicBezTo>
                <a:lnTo>
                  <a:pt x="50377" y="156061"/>
                </a:lnTo>
                <a:cubicBezTo>
                  <a:pt x="43400" y="146616"/>
                  <a:pt x="44512" y="132586"/>
                  <a:pt x="52908" y="124738"/>
                </a:cubicBezTo>
                <a:cubicBezTo>
                  <a:pt x="61304" y="116890"/>
                  <a:pt x="73775" y="118140"/>
                  <a:pt x="80751" y="127585"/>
                </a:cubicBezTo>
                <a:lnTo>
                  <a:pt x="87048" y="136059"/>
                </a:lnTo>
                <a:cubicBezTo>
                  <a:pt x="94148" y="145713"/>
                  <a:pt x="101926" y="154672"/>
                  <a:pt x="110137" y="162937"/>
                </a:cubicBezTo>
                <a:cubicBezTo>
                  <a:pt x="127115" y="141823"/>
                  <a:pt x="140511" y="117029"/>
                  <a:pt x="149340" y="89733"/>
                </a:cubicBezTo>
                <a:lnTo>
                  <a:pt x="149648" y="88900"/>
                </a:lnTo>
                <a:lnTo>
                  <a:pt x="19817" y="88900"/>
                </a:lnTo>
                <a:cubicBezTo>
                  <a:pt x="8828" y="88900"/>
                  <a:pt x="0" y="78968"/>
                  <a:pt x="0" y="66675"/>
                </a:cubicBezTo>
                <a:cubicBezTo>
                  <a:pt x="0" y="54382"/>
                  <a:pt x="8828" y="44450"/>
                  <a:pt x="19756" y="44450"/>
                </a:cubicBezTo>
                <a:lnTo>
                  <a:pt x="79022" y="44450"/>
                </a:lnTo>
                <a:lnTo>
                  <a:pt x="79022" y="22225"/>
                </a:lnTo>
                <a:cubicBezTo>
                  <a:pt x="79022" y="9932"/>
                  <a:pt x="87850" y="0"/>
                  <a:pt x="98778" y="0"/>
                </a:cubicBezTo>
                <a:close/>
                <a:moveTo>
                  <a:pt x="256822" y="188079"/>
                </a:moveTo>
                <a:lnTo>
                  <a:pt x="225769" y="266700"/>
                </a:lnTo>
                <a:lnTo>
                  <a:pt x="287875" y="266700"/>
                </a:lnTo>
                <a:lnTo>
                  <a:pt x="256822" y="188079"/>
                </a:lnTo>
                <a:close/>
              </a:path>
            </a:pathLst>
          </a:custGeom>
          <a:solidFill>
            <a:srgbClr val="E8A24F"/>
          </a:solidFill>
          <a:ln/>
        </p:spPr>
      </p:sp>
      <p:sp>
        <p:nvSpPr>
          <p:cNvPr id="23" name="Text 21"/>
          <p:cNvSpPr/>
          <p:nvPr/>
        </p:nvSpPr>
        <p:spPr>
          <a:xfrm>
            <a:off x="6096000" y="58166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NLP &amp; Text Processing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096000" y="6286500"/>
            <a:ext cx="4064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LangChain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Sentence-Transformers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Cross-encoder reranking and embeddings pipeline for precise medical retrieval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795000" y="5080000"/>
            <a:ext cx="4699000" cy="3175000"/>
          </a:xfrm>
          <a:prstGeom prst="rect">
            <a:avLst/>
          </a:prstGeom>
          <a:solidFill>
            <a:srgbClr val="1E1E28"/>
          </a:solidFill>
          <a:ln/>
        </p:spPr>
      </p:sp>
      <p:sp>
        <p:nvSpPr>
          <p:cNvPr id="26" name="Shape 24"/>
          <p:cNvSpPr/>
          <p:nvPr/>
        </p:nvSpPr>
        <p:spPr>
          <a:xfrm>
            <a:off x="11112500" y="533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5580" y="0"/>
                </a:moveTo>
                <a:cubicBezTo>
                  <a:pt x="195580" y="-12293"/>
                  <a:pt x="187635" y="-22225"/>
                  <a:pt x="177800" y="-22225"/>
                </a:cubicBezTo>
                <a:cubicBezTo>
                  <a:pt x="167965" y="-22225"/>
                  <a:pt x="160020" y="-12293"/>
                  <a:pt x="160020" y="0"/>
                </a:cubicBezTo>
                <a:lnTo>
                  <a:pt x="160020" y="44450"/>
                </a:lnTo>
                <a:lnTo>
                  <a:pt x="106680" y="44450"/>
                </a:lnTo>
                <a:cubicBezTo>
                  <a:pt x="77232" y="44450"/>
                  <a:pt x="53340" y="74315"/>
                  <a:pt x="53340" y="111125"/>
                </a:cubicBezTo>
                <a:lnTo>
                  <a:pt x="53340" y="266700"/>
                </a:lnTo>
                <a:cubicBezTo>
                  <a:pt x="53340" y="303510"/>
                  <a:pt x="77232" y="333375"/>
                  <a:pt x="106680" y="333375"/>
                </a:cubicBezTo>
                <a:lnTo>
                  <a:pt x="248920" y="333375"/>
                </a:lnTo>
                <a:cubicBezTo>
                  <a:pt x="278368" y="333375"/>
                  <a:pt x="302260" y="303510"/>
                  <a:pt x="302260" y="266700"/>
                </a:cubicBezTo>
                <a:lnTo>
                  <a:pt x="302260" y="111125"/>
                </a:lnTo>
                <a:cubicBezTo>
                  <a:pt x="302260" y="74315"/>
                  <a:pt x="278368" y="44450"/>
                  <a:pt x="248920" y="44450"/>
                </a:cubicBezTo>
                <a:lnTo>
                  <a:pt x="195580" y="44450"/>
                </a:lnTo>
                <a:lnTo>
                  <a:pt x="195580" y="0"/>
                </a:lnTo>
                <a:close/>
                <a:moveTo>
                  <a:pt x="88900" y="255587"/>
                </a:moveTo>
                <a:cubicBezTo>
                  <a:pt x="88900" y="246350"/>
                  <a:pt x="94845" y="238919"/>
                  <a:pt x="102235" y="238919"/>
                </a:cubicBezTo>
                <a:lnTo>
                  <a:pt x="120015" y="238919"/>
                </a:lnTo>
                <a:cubicBezTo>
                  <a:pt x="127405" y="238919"/>
                  <a:pt x="133350" y="246350"/>
                  <a:pt x="133350" y="255587"/>
                </a:cubicBezTo>
                <a:cubicBezTo>
                  <a:pt x="133350" y="264825"/>
                  <a:pt x="127405" y="272256"/>
                  <a:pt x="120015" y="272256"/>
                </a:cubicBezTo>
                <a:lnTo>
                  <a:pt x="102235" y="272256"/>
                </a:lnTo>
                <a:cubicBezTo>
                  <a:pt x="94845" y="272256"/>
                  <a:pt x="88900" y="264825"/>
                  <a:pt x="88900" y="255587"/>
                </a:cubicBezTo>
                <a:close/>
                <a:moveTo>
                  <a:pt x="155575" y="255587"/>
                </a:moveTo>
                <a:cubicBezTo>
                  <a:pt x="155575" y="246350"/>
                  <a:pt x="161520" y="238919"/>
                  <a:pt x="168910" y="238919"/>
                </a:cubicBezTo>
                <a:lnTo>
                  <a:pt x="186690" y="238919"/>
                </a:lnTo>
                <a:cubicBezTo>
                  <a:pt x="194080" y="238919"/>
                  <a:pt x="200025" y="246350"/>
                  <a:pt x="200025" y="255587"/>
                </a:cubicBezTo>
                <a:cubicBezTo>
                  <a:pt x="200025" y="264825"/>
                  <a:pt x="194080" y="272256"/>
                  <a:pt x="186690" y="272256"/>
                </a:cubicBezTo>
                <a:lnTo>
                  <a:pt x="168910" y="272256"/>
                </a:lnTo>
                <a:cubicBezTo>
                  <a:pt x="161520" y="272256"/>
                  <a:pt x="155575" y="264825"/>
                  <a:pt x="155575" y="255587"/>
                </a:cubicBezTo>
                <a:close/>
                <a:moveTo>
                  <a:pt x="222250" y="255587"/>
                </a:moveTo>
                <a:cubicBezTo>
                  <a:pt x="222250" y="246350"/>
                  <a:pt x="228195" y="238919"/>
                  <a:pt x="235585" y="238919"/>
                </a:cubicBezTo>
                <a:lnTo>
                  <a:pt x="253365" y="238919"/>
                </a:lnTo>
                <a:cubicBezTo>
                  <a:pt x="260755" y="238919"/>
                  <a:pt x="266700" y="246350"/>
                  <a:pt x="266700" y="255587"/>
                </a:cubicBezTo>
                <a:cubicBezTo>
                  <a:pt x="266700" y="264825"/>
                  <a:pt x="260755" y="272256"/>
                  <a:pt x="253365" y="272256"/>
                </a:cubicBezTo>
                <a:lnTo>
                  <a:pt x="235585" y="272256"/>
                </a:lnTo>
                <a:cubicBezTo>
                  <a:pt x="228195" y="272256"/>
                  <a:pt x="222250" y="264825"/>
                  <a:pt x="222250" y="255587"/>
                </a:cubicBezTo>
                <a:close/>
                <a:moveTo>
                  <a:pt x="124460" y="122238"/>
                </a:moveTo>
                <a:cubicBezTo>
                  <a:pt x="139180" y="122238"/>
                  <a:pt x="151130" y="137176"/>
                  <a:pt x="151130" y="155575"/>
                </a:cubicBezTo>
                <a:cubicBezTo>
                  <a:pt x="151130" y="173974"/>
                  <a:pt x="139180" y="188913"/>
                  <a:pt x="124460" y="188913"/>
                </a:cubicBezTo>
                <a:cubicBezTo>
                  <a:pt x="109740" y="188913"/>
                  <a:pt x="97790" y="173974"/>
                  <a:pt x="97790" y="155575"/>
                </a:cubicBezTo>
                <a:cubicBezTo>
                  <a:pt x="97790" y="137176"/>
                  <a:pt x="109740" y="122238"/>
                  <a:pt x="124460" y="122238"/>
                </a:cubicBezTo>
                <a:close/>
                <a:moveTo>
                  <a:pt x="204470" y="155575"/>
                </a:moveTo>
                <a:cubicBezTo>
                  <a:pt x="204470" y="137176"/>
                  <a:pt x="216420" y="122238"/>
                  <a:pt x="231140" y="122238"/>
                </a:cubicBezTo>
                <a:cubicBezTo>
                  <a:pt x="245860" y="122238"/>
                  <a:pt x="257810" y="137176"/>
                  <a:pt x="257810" y="155575"/>
                </a:cubicBezTo>
                <a:cubicBezTo>
                  <a:pt x="257810" y="173974"/>
                  <a:pt x="245860" y="188913"/>
                  <a:pt x="231140" y="188913"/>
                </a:cubicBezTo>
                <a:cubicBezTo>
                  <a:pt x="216420" y="188913"/>
                  <a:pt x="204470" y="173974"/>
                  <a:pt x="204470" y="155575"/>
                </a:cubicBezTo>
                <a:close/>
                <a:moveTo>
                  <a:pt x="35560" y="155575"/>
                </a:moveTo>
                <a:cubicBezTo>
                  <a:pt x="35560" y="143282"/>
                  <a:pt x="27615" y="133350"/>
                  <a:pt x="17780" y="133350"/>
                </a:cubicBezTo>
                <a:cubicBezTo>
                  <a:pt x="7945" y="133350"/>
                  <a:pt x="0" y="143282"/>
                  <a:pt x="0" y="155575"/>
                </a:cubicBezTo>
                <a:lnTo>
                  <a:pt x="0" y="222250"/>
                </a:lnTo>
                <a:cubicBezTo>
                  <a:pt x="0" y="234543"/>
                  <a:pt x="7945" y="244475"/>
                  <a:pt x="17780" y="244475"/>
                </a:cubicBezTo>
                <a:cubicBezTo>
                  <a:pt x="27615" y="244475"/>
                  <a:pt x="35560" y="234543"/>
                  <a:pt x="35560" y="222250"/>
                </a:cubicBezTo>
                <a:lnTo>
                  <a:pt x="35560" y="155575"/>
                </a:lnTo>
                <a:close/>
                <a:moveTo>
                  <a:pt x="337820" y="133350"/>
                </a:moveTo>
                <a:cubicBezTo>
                  <a:pt x="327985" y="133350"/>
                  <a:pt x="320040" y="143282"/>
                  <a:pt x="320040" y="155575"/>
                </a:cubicBezTo>
                <a:lnTo>
                  <a:pt x="320040" y="222250"/>
                </a:lnTo>
                <a:cubicBezTo>
                  <a:pt x="320040" y="234543"/>
                  <a:pt x="327985" y="244475"/>
                  <a:pt x="337820" y="244475"/>
                </a:cubicBezTo>
                <a:cubicBezTo>
                  <a:pt x="347655" y="244475"/>
                  <a:pt x="355600" y="234543"/>
                  <a:pt x="355600" y="222250"/>
                </a:cubicBezTo>
                <a:lnTo>
                  <a:pt x="355600" y="155575"/>
                </a:lnTo>
                <a:cubicBezTo>
                  <a:pt x="355600" y="143282"/>
                  <a:pt x="347655" y="133350"/>
                  <a:pt x="337820" y="133350"/>
                </a:cubicBezTo>
                <a:close/>
              </a:path>
            </a:pathLst>
          </a:custGeom>
          <a:solidFill>
            <a:srgbClr val="E8A24F"/>
          </a:solidFill>
          <a:ln/>
        </p:spPr>
      </p:sp>
      <p:sp>
        <p:nvSpPr>
          <p:cNvPr id="27" name="Text 25"/>
          <p:cNvSpPr/>
          <p:nvPr/>
        </p:nvSpPr>
        <p:spPr>
          <a:xfrm>
            <a:off x="11112500" y="58166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 Integration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1112500" y="6286500"/>
            <a:ext cx="4064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OpenRouter API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Unified access to multiple LLM providers with automatic failover and cost optimization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lqybweg4voaw/mnt/agents/output/sehatek-rag/images/3_55_584_Software_Architecture_Royalty.png">    </p:cNvPr>
          <p:cNvPicPr>
            <a:picLocks noChangeAspect="1"/>
          </p:cNvPicPr>
          <p:nvPr/>
        </p:nvPicPr>
        <p:blipFill>
          <a:blip r:embed="rId1"/>
          <a:srcRect l="14189" r="14189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D0D12">
                  <a:alpha val="38000"/>
                </a:srgbClr>
              </a:gs>
              <a:gs pos="50000">
                <a:srgbClr val="0D0D12">
                  <a:alpha val="75000"/>
                </a:srgbClr>
              </a:gs>
              <a:gs pos="100000">
                <a:srgbClr val="0D0D12">
                  <a:alpha val="94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286000"/>
            <a:ext cx="381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0" b="1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2000" dirty="0"/>
          </a:p>
        </p:txBody>
      </p:sp>
      <p:sp>
        <p:nvSpPr>
          <p:cNvPr id="5" name="Shape 2"/>
          <p:cNvSpPr/>
          <p:nvPr/>
        </p:nvSpPr>
        <p:spPr>
          <a:xfrm>
            <a:off x="762000" y="4064000"/>
            <a:ext cx="762000" cy="38100"/>
          </a:xfrm>
          <a:prstGeom prst="rect">
            <a:avLst/>
          </a:prstGeom>
          <a:solidFill>
            <a:srgbClr val="E8A24F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318000"/>
            <a:ext cx="1143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spc="200" kern="0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ROADMAP TO AGENTIC RAG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62000" y="51435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Evolving from Standard RAG to fully autonomous agentic architecture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E8A24F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v2.0 Agentic RAG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2A2A36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system evolves from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 RAG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(single retrieval → generate) to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Agentic RAG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(intelligent routing → decomposition → parallel retrieval → synthesis).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588000" y="2540000"/>
            <a:ext cx="5080000" cy="889000"/>
          </a:xfrm>
          <a:prstGeom prst="rect">
            <a:avLst/>
          </a:prstGeom>
          <a:solidFill>
            <a:srgbClr val="E8A24F"/>
          </a:solidFill>
          <a:ln/>
        </p:spPr>
      </p:sp>
      <p:sp>
        <p:nvSpPr>
          <p:cNvPr id="7" name="Text 5"/>
          <p:cNvSpPr/>
          <p:nvPr/>
        </p:nvSpPr>
        <p:spPr>
          <a:xfrm>
            <a:off x="5588000" y="2540000"/>
            <a:ext cx="508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D0D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 Router (Local)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588000" y="3492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Evaluates query complexity in real-time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 flipH="1">
            <a:off x="4318000" y="3429000"/>
            <a:ext cx="1270000" cy="1016000"/>
          </a:xfrm>
          <a:prstGeom prst="straightConnector1">
            <a:avLst/>
          </a:prstGeom>
          <a:noFill/>
          <a:ln w="25400">
            <a:solidFill>
              <a:srgbClr val="E8A24F"/>
            </a:solidFill>
            <a:prstDash val="solid"/>
            <a:headEnd type="arrow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668000" y="3429000"/>
            <a:ext cx="1270000" cy="1016000"/>
          </a:xfrm>
          <a:prstGeom prst="straightConnector1">
            <a:avLst/>
          </a:prstGeom>
          <a:noFill/>
          <a:ln w="25400">
            <a:solidFill>
              <a:srgbClr val="E8A24F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762000" y="4572000"/>
            <a:ext cx="7048500" cy="2032000"/>
          </a:xfrm>
          <a:prstGeom prst="rect">
            <a:avLst/>
          </a:prstGeom>
          <a:solidFill>
            <a:srgbClr val="1E1E28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4572000"/>
            <a:ext cx="7048500" cy="50800"/>
          </a:xfrm>
          <a:prstGeom prst="rect">
            <a:avLst/>
          </a:prstGeom>
          <a:solidFill>
            <a:srgbClr val="8A8A95"/>
          </a:solidFill>
          <a:ln/>
        </p:spPr>
      </p:sp>
      <p:sp>
        <p:nvSpPr>
          <p:cNvPr id="13" name="Text 11"/>
          <p:cNvSpPr/>
          <p:nvPr/>
        </p:nvSpPr>
        <p:spPr>
          <a:xfrm>
            <a:off x="1079500" y="4800600"/>
            <a:ext cx="6413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 Query Path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79500" y="5270500"/>
            <a:ext cx="6413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Direct RAG pipeline — single retrieval pass generates the answer. Fast and efficient for straightforward factual questions.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445500" y="4572000"/>
            <a:ext cx="7048500" cy="2032000"/>
          </a:xfrm>
          <a:prstGeom prst="rect">
            <a:avLst/>
          </a:prstGeom>
          <a:solidFill>
            <a:srgbClr val="1E1E28"/>
          </a:solidFill>
          <a:ln/>
        </p:spPr>
      </p:sp>
      <p:sp>
        <p:nvSpPr>
          <p:cNvPr id="16" name="Shape 14"/>
          <p:cNvSpPr/>
          <p:nvPr/>
        </p:nvSpPr>
        <p:spPr>
          <a:xfrm>
            <a:off x="8445500" y="4572000"/>
            <a:ext cx="7048500" cy="50800"/>
          </a:xfrm>
          <a:prstGeom prst="rect">
            <a:avLst/>
          </a:prstGeom>
          <a:solidFill>
            <a:srgbClr val="E8A24F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0" y="4800600"/>
            <a:ext cx="6413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Complex Query Path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763000" y="5270500"/>
            <a:ext cx="6413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Query decomposition → parallel async retrieval for each sub-query → cross-encoder reranking → synthesized answer.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6985000"/>
            <a:ext cx="14732000" cy="1270000"/>
          </a:xfrm>
          <a:prstGeom prst="rect">
            <a:avLst/>
          </a:prstGeom>
          <a:solidFill>
            <a:srgbClr val="1E1E28"/>
          </a:solidFill>
          <a:ln/>
        </p:spPr>
      </p:sp>
      <p:sp>
        <p:nvSpPr>
          <p:cNvPr id="20" name="Shape 18"/>
          <p:cNvSpPr/>
          <p:nvPr/>
        </p:nvSpPr>
        <p:spPr>
          <a:xfrm>
            <a:off x="762000" y="6985000"/>
            <a:ext cx="50800" cy="1270000"/>
          </a:xfrm>
          <a:prstGeom prst="rect">
            <a:avLst/>
          </a:prstGeom>
          <a:solidFill>
            <a:srgbClr val="E8A24F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7175500"/>
            <a:ext cx="1397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advantage: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router ensures simple queries stay fast while complex queries get the multi-step treatment they need — no wasted computation, no degraded precision.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E8A24F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v2.0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2A2A36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7048500" cy="3175000"/>
          </a:xfrm>
          <a:prstGeom prst="rect">
            <a:avLst/>
          </a:prstGeom>
          <a:solidFill>
            <a:srgbClr val="1E1E28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778000"/>
            <a:ext cx="76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841500" y="1778000"/>
            <a:ext cx="5651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Query Decomposition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16000" y="2349500"/>
            <a:ext cx="6477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Automatically breaks complex comparative queries into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isolated sub-queries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can be answered independently.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"Compare AUCs of Model X vs Model Y across Papers A, B, C" decomposes into 6 focused retrieval tasks.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45500" y="1587500"/>
            <a:ext cx="7048500" cy="3175000"/>
          </a:xfrm>
          <a:prstGeom prst="rect">
            <a:avLst/>
          </a:prstGeom>
          <a:solidFill>
            <a:srgbClr val="1E1E28"/>
          </a:solidFill>
          <a:ln/>
        </p:spPr>
      </p:sp>
      <p:sp>
        <p:nvSpPr>
          <p:cNvPr id="10" name="Text 8"/>
          <p:cNvSpPr/>
          <p:nvPr/>
        </p:nvSpPr>
        <p:spPr>
          <a:xfrm>
            <a:off x="8699500" y="1778000"/>
            <a:ext cx="76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525000" y="1778000"/>
            <a:ext cx="5651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Parallel Async Retrieval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99500" y="2349500"/>
            <a:ext cx="6477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Runs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concurrent retrieval pipelines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each decomposed sub-query, eliminating cross-encoder bias between unrelated entities.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Reduces overall latency through parallelism — all sub-queries resolve simultaneously rather than sequentially.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080000"/>
            <a:ext cx="7048500" cy="3175000"/>
          </a:xfrm>
          <a:prstGeom prst="rect">
            <a:avLst/>
          </a:prstGeom>
          <a:solidFill>
            <a:srgbClr val="1E1E28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5270500"/>
            <a:ext cx="76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841500" y="5270500"/>
            <a:ext cx="5651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Structured Output Enforcement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16000" y="5842000"/>
            <a:ext cx="6477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Pydantic schemas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enforce strict JSON adherence from the orchestrator agent, guaranteeing a crash-free routing pipeline.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Type-safe output validation ensures the router always produces valid, parseable routing decisions.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45500" y="5080000"/>
            <a:ext cx="7048500" cy="3175000"/>
          </a:xfrm>
          <a:prstGeom prst="rect">
            <a:avLst/>
          </a:prstGeom>
          <a:solidFill>
            <a:srgbClr val="1E1E28"/>
          </a:solidFill>
          <a:ln/>
        </p:spPr>
      </p:sp>
      <p:sp>
        <p:nvSpPr>
          <p:cNvPr id="18" name="Text 16"/>
          <p:cNvSpPr/>
          <p:nvPr/>
        </p:nvSpPr>
        <p:spPr>
          <a:xfrm>
            <a:off x="8699500" y="5270500"/>
            <a:ext cx="76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525000" y="5270500"/>
            <a:ext cx="5651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Text-to-SQL Agent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699500" y="5842000"/>
            <a:ext cx="6477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dedicated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Agent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translates natural language questions into complex SQL queries against structured clinical databases.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Bridges the gap between unstructured medical literature and structured clinical data for dynamic analytical answers.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lqybweg4voaw/mnt/agents/output/sehatek-rag/images/5_Futuristic_Medical_Technology_Holographic.png">    </p:cNvPr>
          <p:cNvPicPr>
            <a:picLocks noChangeAspect="1"/>
          </p:cNvPicPr>
          <p:nvPr/>
        </p:nvPicPr>
        <p:blipFill>
          <a:blip r:embed="rId1"/>
          <a:srcRect l="0" r="0" t="2589" b="2589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D0D12">
                  <a:alpha val="38000"/>
                </a:srgbClr>
              </a:gs>
              <a:gs pos="40000">
                <a:srgbClr val="0D0D12">
                  <a:alpha val="69000"/>
                </a:srgbClr>
              </a:gs>
              <a:gs pos="100000">
                <a:srgbClr val="0D0D12">
                  <a:alpha val="94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493000" y="2794000"/>
            <a:ext cx="1270000" cy="38100"/>
          </a:xfrm>
          <a:prstGeom prst="rect">
            <a:avLst/>
          </a:prstGeom>
          <a:solidFill>
            <a:srgbClr val="E8A24F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3048000"/>
            <a:ext cx="1270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b="1" spc="200" kern="0" dirty="0">
                <a:solidFill>
                  <a:srgbClr val="E8A2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BUILDING THE FUTURE OF MEDICAL AI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2413000" y="4064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verified retrieval to autonomous medical intelligence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3000" y="4762500"/>
            <a:ext cx="1270000" cy="38100"/>
          </a:xfrm>
          <a:prstGeom prst="rect">
            <a:avLst/>
          </a:prstGeom>
          <a:solidFill>
            <a:srgbClr val="E8A24F"/>
          </a:solidFill>
          <a:ln/>
        </p:spPr>
      </p:sp>
      <p:sp>
        <p:nvSpPr>
          <p:cNvPr id="8" name="Text 5"/>
          <p:cNvSpPr/>
          <p:nvPr/>
        </p:nvSpPr>
        <p:spPr>
          <a:xfrm>
            <a:off x="4318000" y="5080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200" kern="0" dirty="0">
                <a:solidFill>
                  <a:srgbClr val="8A8A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SEHATEK KNOWLEDGE RAG  |  V1.0 → V2.0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Sehatek Medical Knowledge RAG</dc:title>
  <dc:subject>Sehatek Medical Knowledge RAG</dc:subject>
  <dc:creator>Kimi</dc:creator>
  <cp:lastModifiedBy>Kimi</cp:lastModifiedBy>
  <cp:revision>1</cp:revision>
  <dcterms:created xsi:type="dcterms:W3CDTF">2026-06-23T15:36:57Z</dcterms:created>
  <dcterms:modified xsi:type="dcterms:W3CDTF">2026-06-23T15:36:57Z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{"Label":"Sehatek Medical Knowledge RAG","ContentProducer":"001191110108MACG2KBH8F10000","ProduceID":"19ef514b-e4a2-8bc6-8000-00000798cc6f","ReservedCode1":"","ContentPropagator":"001191110108MACG2KBH8F20000","PropagateID":"19ef50c9-56a2-8d67-8000-09add6123202","ReservedCode2":""}</vt:lpwstr>
  </property>
</Properties>
</file>